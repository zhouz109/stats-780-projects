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4" r:id="rId7"/>
    <p:sldId id="265" r:id="rId8"/>
    <p:sldId id="262" r:id="rId9"/>
    <p:sldId id="266" r:id="rId10"/>
    <p:sldId id="267"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00EE"/>
    <a:srgbClr val="05FF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20D4BA-3F38-407C-AEF1-1CBA6CB2E2B7}" v="5" dt="2024-12-05T19:27:40.5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255" autoAdjust="0"/>
  </p:normalViewPr>
  <p:slideViewPr>
    <p:cSldViewPr snapToGrid="0">
      <p:cViewPr varScale="1">
        <p:scale>
          <a:sx n="60" d="100"/>
          <a:sy n="60" d="100"/>
        </p:scale>
        <p:origin x="145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ie Zhou" userId="5282321b06ad1a90" providerId="LiveId" clId="{1720D4BA-3F38-407C-AEF1-1CBA6CB2E2B7}"/>
    <pc:docChg chg="custSel modSld">
      <pc:chgData name="Jackie Zhou" userId="5282321b06ad1a90" providerId="LiveId" clId="{1720D4BA-3F38-407C-AEF1-1CBA6CB2E2B7}" dt="2024-12-05T19:32:41.996" v="500" actId="20577"/>
      <pc:docMkLst>
        <pc:docMk/>
      </pc:docMkLst>
      <pc:sldChg chg="modNotesTx">
        <pc:chgData name="Jackie Zhou" userId="5282321b06ad1a90" providerId="LiveId" clId="{1720D4BA-3F38-407C-AEF1-1CBA6CB2E2B7}" dt="2024-12-05T19:15:43.051" v="7" actId="20577"/>
        <pc:sldMkLst>
          <pc:docMk/>
          <pc:sldMk cId="3613938919" sldId="259"/>
        </pc:sldMkLst>
      </pc:sldChg>
      <pc:sldChg chg="modNotesTx">
        <pc:chgData name="Jackie Zhou" userId="5282321b06ad1a90" providerId="LiveId" clId="{1720D4BA-3F38-407C-AEF1-1CBA6CB2E2B7}" dt="2024-12-05T19:20:22.465" v="51" actId="20577"/>
        <pc:sldMkLst>
          <pc:docMk/>
          <pc:sldMk cId="2807022800" sldId="262"/>
        </pc:sldMkLst>
      </pc:sldChg>
      <pc:sldChg chg="addSp modSp mod modNotesTx">
        <pc:chgData name="Jackie Zhou" userId="5282321b06ad1a90" providerId="LiveId" clId="{1720D4BA-3F38-407C-AEF1-1CBA6CB2E2B7}" dt="2024-12-05T19:32:41.996" v="500" actId="20577"/>
        <pc:sldMkLst>
          <pc:docMk/>
          <pc:sldMk cId="370456665" sldId="266"/>
        </pc:sldMkLst>
        <pc:spChg chg="add">
          <ac:chgData name="Jackie Zhou" userId="5282321b06ad1a90" providerId="LiveId" clId="{1720D4BA-3F38-407C-AEF1-1CBA6CB2E2B7}" dt="2024-12-05T19:26:48.679" v="282"/>
          <ac:spMkLst>
            <pc:docMk/>
            <pc:sldMk cId="370456665" sldId="266"/>
            <ac:spMk id="4" creationId="{9831E8D4-143D-F5EB-F131-EEBF29B960EF}"/>
          </ac:spMkLst>
        </pc:spChg>
        <pc:grpChg chg="add mod">
          <ac:chgData name="Jackie Zhou" userId="5282321b06ad1a90" providerId="LiveId" clId="{1720D4BA-3F38-407C-AEF1-1CBA6CB2E2B7}" dt="2024-12-05T19:27:54.144" v="295" actId="1076"/>
          <ac:grpSpMkLst>
            <pc:docMk/>
            <pc:sldMk cId="370456665" sldId="266"/>
            <ac:grpSpMk id="8" creationId="{386D33FB-E037-03D3-EB2A-19FDC54780F7}"/>
          </ac:grpSpMkLst>
        </pc:grpChg>
        <pc:picChg chg="mod modCrop">
          <ac:chgData name="Jackie Zhou" userId="5282321b06ad1a90" providerId="LiveId" clId="{1720D4BA-3F38-407C-AEF1-1CBA6CB2E2B7}" dt="2024-12-05T19:22:38.604" v="281" actId="732"/>
          <ac:picMkLst>
            <pc:docMk/>
            <pc:sldMk cId="370456665" sldId="266"/>
            <ac:picMk id="3" creationId="{CB583036-9A5E-3741-CB10-4886CACFA1FF}"/>
          </ac:picMkLst>
        </pc:picChg>
        <pc:picChg chg="add mod modCrop">
          <ac:chgData name="Jackie Zhou" userId="5282321b06ad1a90" providerId="LiveId" clId="{1720D4BA-3F38-407C-AEF1-1CBA6CB2E2B7}" dt="2024-12-05T19:27:40.505" v="294" actId="164"/>
          <ac:picMkLst>
            <pc:docMk/>
            <pc:sldMk cId="370456665" sldId="266"/>
            <ac:picMk id="6" creationId="{9A07FE8B-7BE8-2F49-7B2F-A19FDF6EC03A}"/>
          </ac:picMkLst>
        </pc:picChg>
        <pc:picChg chg="add mod modCrop">
          <ac:chgData name="Jackie Zhou" userId="5282321b06ad1a90" providerId="LiveId" clId="{1720D4BA-3F38-407C-AEF1-1CBA6CB2E2B7}" dt="2024-12-05T19:27:40.505" v="294" actId="164"/>
          <ac:picMkLst>
            <pc:docMk/>
            <pc:sldMk cId="370456665" sldId="266"/>
            <ac:picMk id="7" creationId="{4C921895-0F7F-2976-970A-00E1C045AF9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4EA9D7-3EE7-44C6-BCE5-83E5A0D55D49}" type="datetimeFigureOut">
              <a:rPr lang="en-CA" smtClean="0"/>
              <a:t>2024-12-05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BAAF3F-D3DF-4DBB-AC14-34B412D70634}" type="slidenum">
              <a:rPr lang="en-CA" smtClean="0"/>
              <a:t>‹#›</a:t>
            </a:fld>
            <a:endParaRPr lang="en-CA"/>
          </a:p>
        </p:txBody>
      </p:sp>
    </p:spTree>
    <p:extLst>
      <p:ext uri="{BB962C8B-B14F-4D97-AF65-F5344CB8AC3E}">
        <p14:creationId xmlns:p14="http://schemas.microsoft.com/office/powerpoint/2010/main" val="3393743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Hi everyone, my name is Jackie and today I will be talking about feature importance in predicting music preference</a:t>
            </a:r>
          </a:p>
        </p:txBody>
      </p:sp>
      <p:sp>
        <p:nvSpPr>
          <p:cNvPr id="4" name="Slide Number Placeholder 3"/>
          <p:cNvSpPr>
            <a:spLocks noGrp="1"/>
          </p:cNvSpPr>
          <p:nvPr>
            <p:ph type="sldNum" sz="quarter" idx="5"/>
          </p:nvPr>
        </p:nvSpPr>
        <p:spPr/>
        <p:txBody>
          <a:bodyPr/>
          <a:lstStyle/>
          <a:p>
            <a:fld id="{79BAAF3F-D3DF-4DBB-AC14-34B412D70634}" type="slidenum">
              <a:rPr lang="en-CA" smtClean="0"/>
              <a:t>1</a:t>
            </a:fld>
            <a:endParaRPr lang="en-CA"/>
          </a:p>
        </p:txBody>
      </p:sp>
    </p:spTree>
    <p:extLst>
      <p:ext uri="{BB962C8B-B14F-4D97-AF65-F5344CB8AC3E}">
        <p14:creationId xmlns:p14="http://schemas.microsoft.com/office/powerpoint/2010/main" val="4290375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As a general outline, I’ll be going over intro and motivation, my dataset, two-part methods, results and comparisons, and then discussions. </a:t>
            </a:r>
          </a:p>
        </p:txBody>
      </p:sp>
      <p:sp>
        <p:nvSpPr>
          <p:cNvPr id="4" name="Slide Number Placeholder 3"/>
          <p:cNvSpPr>
            <a:spLocks noGrp="1"/>
          </p:cNvSpPr>
          <p:nvPr>
            <p:ph type="sldNum" sz="quarter" idx="5"/>
          </p:nvPr>
        </p:nvSpPr>
        <p:spPr/>
        <p:txBody>
          <a:bodyPr/>
          <a:lstStyle/>
          <a:p>
            <a:fld id="{79BAAF3F-D3DF-4DBB-AC14-34B412D70634}" type="slidenum">
              <a:rPr lang="en-CA" smtClean="0"/>
              <a:t>2</a:t>
            </a:fld>
            <a:endParaRPr lang="en-CA"/>
          </a:p>
        </p:txBody>
      </p:sp>
    </p:spTree>
    <p:extLst>
      <p:ext uri="{BB962C8B-B14F-4D97-AF65-F5344CB8AC3E}">
        <p14:creationId xmlns:p14="http://schemas.microsoft.com/office/powerpoint/2010/main" val="14772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Music preference and popularity is influenced by many confounding factors such as artist, marketing, as well as musical features themselves.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By analyzing acoustic features, we can get insight into characteristics that make certain songs more popular and resonate more widely with audiences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dirty="0"/>
              <a:t>Or in other words, determining musical features that predict the popularity and success of a song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Understanding the predictive power of characteristics on popularity can provide insights for music producers, artists, and others who aim to create music that resonates with a broad audience.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Further insights also include practical applications in music recommendation systems, where identifying important features that contribute to popularity could potentially improve listener engagement.</a:t>
            </a:r>
          </a:p>
        </p:txBody>
      </p:sp>
      <p:sp>
        <p:nvSpPr>
          <p:cNvPr id="4" name="Slide Number Placeholder 3"/>
          <p:cNvSpPr>
            <a:spLocks noGrp="1"/>
          </p:cNvSpPr>
          <p:nvPr>
            <p:ph type="sldNum" sz="quarter" idx="5"/>
          </p:nvPr>
        </p:nvSpPr>
        <p:spPr/>
        <p:txBody>
          <a:bodyPr/>
          <a:lstStyle/>
          <a:p>
            <a:fld id="{79BAAF3F-D3DF-4DBB-AC14-34B412D70634}" type="slidenum">
              <a:rPr lang="en-CA" smtClean="0"/>
              <a:t>3</a:t>
            </a:fld>
            <a:endParaRPr lang="en-CA"/>
          </a:p>
        </p:txBody>
      </p:sp>
    </p:spTree>
    <p:extLst>
      <p:ext uri="{BB962C8B-B14F-4D97-AF65-F5344CB8AC3E}">
        <p14:creationId xmlns:p14="http://schemas.microsoft.com/office/powerpoint/2010/main" val="1667911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CA" dirty="0"/>
              <a:t>My dataset I chose for this investigation is the Free Music Archive dataset, which is a publicly available collection of musical tracks</a:t>
            </a:r>
          </a:p>
          <a:p>
            <a:pPr marL="171450" indent="-171450">
              <a:buFontTx/>
              <a:buChar char="-"/>
            </a:pPr>
            <a:r>
              <a:rPr lang="en-CA" dirty="0"/>
              <a:t>Each piece also has a number corresponding to the number of times listened. Because the number of listens grew exponentially, I applied a log transform to get the log number of listens. </a:t>
            </a:r>
          </a:p>
          <a:p>
            <a:pPr marL="171450" indent="-171450">
              <a:buFontTx/>
              <a:buChar char="-"/>
            </a:pPr>
            <a:r>
              <a:rPr lang="en-CA" dirty="0"/>
              <a:t>With the log transform applied, there were no outliers, however, I chose to remove the most extreme 5% of the dataset. </a:t>
            </a:r>
          </a:p>
          <a:p>
            <a:pPr marL="171450" indent="-171450">
              <a:buFontTx/>
              <a:buChar char="-"/>
            </a:pPr>
            <a:r>
              <a:rPr lang="en-CA" dirty="0"/>
              <a:t>Each piece also has metadata as well as acoustic features from Spotify’s web API feature extractions, listed in this correlation matrix here. As you can see, many of them are correlated. </a:t>
            </a:r>
          </a:p>
        </p:txBody>
      </p:sp>
      <p:sp>
        <p:nvSpPr>
          <p:cNvPr id="4" name="Slide Number Placeholder 3"/>
          <p:cNvSpPr>
            <a:spLocks noGrp="1"/>
          </p:cNvSpPr>
          <p:nvPr>
            <p:ph type="sldNum" sz="quarter" idx="5"/>
          </p:nvPr>
        </p:nvSpPr>
        <p:spPr/>
        <p:txBody>
          <a:bodyPr/>
          <a:lstStyle/>
          <a:p>
            <a:fld id="{79BAAF3F-D3DF-4DBB-AC14-34B412D70634}" type="slidenum">
              <a:rPr lang="en-CA" smtClean="0"/>
              <a:t>4</a:t>
            </a:fld>
            <a:endParaRPr lang="en-CA"/>
          </a:p>
        </p:txBody>
      </p:sp>
    </p:spTree>
    <p:extLst>
      <p:ext uri="{BB962C8B-B14F-4D97-AF65-F5344CB8AC3E}">
        <p14:creationId xmlns:p14="http://schemas.microsoft.com/office/powerpoint/2010/main" val="2179196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Since the eight acoustic features may have overlapping information, shown by the moderate correlations, I used dimensionality reduction using PCA. </a:t>
            </a:r>
            <a:r>
              <a:rPr lang="en-US" dirty="0"/>
              <a:t>I chose to use the first 5 principal components as it explained around 72% of the variance, as adding more PCs showed diminishing returns. </a:t>
            </a:r>
          </a:p>
        </p:txBody>
      </p:sp>
      <p:sp>
        <p:nvSpPr>
          <p:cNvPr id="4" name="Slide Number Placeholder 3"/>
          <p:cNvSpPr>
            <a:spLocks noGrp="1"/>
          </p:cNvSpPr>
          <p:nvPr>
            <p:ph type="sldNum" sz="quarter" idx="5"/>
          </p:nvPr>
        </p:nvSpPr>
        <p:spPr/>
        <p:txBody>
          <a:bodyPr/>
          <a:lstStyle/>
          <a:p>
            <a:fld id="{79BAAF3F-D3DF-4DBB-AC14-34B412D70634}" type="slidenum">
              <a:rPr lang="en-CA" smtClean="0"/>
              <a:t>5</a:t>
            </a:fld>
            <a:endParaRPr lang="en-CA"/>
          </a:p>
        </p:txBody>
      </p:sp>
    </p:spTree>
    <p:extLst>
      <p:ext uri="{BB962C8B-B14F-4D97-AF65-F5344CB8AC3E}">
        <p14:creationId xmlns:p14="http://schemas.microsoft.com/office/powerpoint/2010/main" val="131234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A48F-CDA0-6078-D786-4F70BF9BF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67663-584E-18D0-3BEF-63E8A492B7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51C53-A781-3456-F3F3-6527D24858E7}"/>
              </a:ext>
            </a:extLst>
          </p:cNvPr>
          <p:cNvSpPr>
            <a:spLocks noGrp="1"/>
          </p:cNvSpPr>
          <p:nvPr>
            <p:ph type="body" idx="1"/>
          </p:nvPr>
        </p:nvSpPr>
        <p:spPr/>
        <p:txBody>
          <a:bodyPr/>
          <a:lstStyle/>
          <a:p>
            <a:r>
              <a:rPr lang="en-CA" dirty="0"/>
              <a:t>As for the predictive models, I used an 80/20 split and compared the models using feature importance, RMSE, and </a:t>
            </a:r>
            <a:r>
              <a:rPr lang="en-CA" dirty="0" err="1"/>
              <a:t>rsquared</a:t>
            </a:r>
            <a:endParaRPr lang="en-CA" dirty="0"/>
          </a:p>
          <a:p>
            <a:r>
              <a:rPr lang="en-CA" dirty="0"/>
              <a:t>- The two models I chose were random forest regression and regression with boosting using </a:t>
            </a:r>
            <a:r>
              <a:rPr lang="en-CA" dirty="0" err="1"/>
              <a:t>xgboost</a:t>
            </a:r>
            <a:endParaRPr lang="en-CA" dirty="0"/>
          </a:p>
        </p:txBody>
      </p:sp>
      <p:sp>
        <p:nvSpPr>
          <p:cNvPr id="4" name="Slide Number Placeholder 3">
            <a:extLst>
              <a:ext uri="{FF2B5EF4-FFF2-40B4-BE49-F238E27FC236}">
                <a16:creationId xmlns:a16="http://schemas.microsoft.com/office/drawing/2014/main" id="{71C4C8B6-5BE3-D99A-8A58-6F09B2B722FB}"/>
              </a:ext>
            </a:extLst>
          </p:cNvPr>
          <p:cNvSpPr>
            <a:spLocks noGrp="1"/>
          </p:cNvSpPr>
          <p:nvPr>
            <p:ph type="sldNum" sz="quarter" idx="5"/>
          </p:nvPr>
        </p:nvSpPr>
        <p:spPr/>
        <p:txBody>
          <a:bodyPr/>
          <a:lstStyle/>
          <a:p>
            <a:fld id="{79BAAF3F-D3DF-4DBB-AC14-34B412D70634}" type="slidenum">
              <a:rPr lang="en-CA" smtClean="0"/>
              <a:t>6</a:t>
            </a:fld>
            <a:endParaRPr lang="en-CA"/>
          </a:p>
        </p:txBody>
      </p:sp>
    </p:spTree>
    <p:extLst>
      <p:ext uri="{BB962C8B-B14F-4D97-AF65-F5344CB8AC3E}">
        <p14:creationId xmlns:p14="http://schemas.microsoft.com/office/powerpoint/2010/main" val="2790974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Comparing the two models, the random forest regression had an </a:t>
            </a:r>
            <a:r>
              <a:rPr lang="en-CA" dirty="0" err="1"/>
              <a:t>rmse</a:t>
            </a:r>
            <a:r>
              <a:rPr lang="en-CA" dirty="0"/>
              <a:t> of 1.043 and a significant </a:t>
            </a:r>
            <a:r>
              <a:rPr lang="en-CA" dirty="0" err="1"/>
              <a:t>rsquared</a:t>
            </a:r>
            <a:r>
              <a:rPr lang="en-CA" dirty="0"/>
              <a:t> of 0.054. The two most important PCs for random forest was PC1 and PC2</a:t>
            </a:r>
          </a:p>
          <a:p>
            <a:r>
              <a:rPr lang="en-CA" dirty="0"/>
              <a:t>The regression model with boosting had a slightly lower RMSE of 1.026 and a higher </a:t>
            </a:r>
            <a:r>
              <a:rPr lang="en-CA" dirty="0" err="1"/>
              <a:t>rsquared</a:t>
            </a:r>
            <a:r>
              <a:rPr lang="en-CA" dirty="0"/>
              <a:t> of 0.075. The most important loading was still PC1 but the next most important was PC4. </a:t>
            </a:r>
          </a:p>
        </p:txBody>
      </p:sp>
      <p:sp>
        <p:nvSpPr>
          <p:cNvPr id="4" name="Slide Number Placeholder 3"/>
          <p:cNvSpPr>
            <a:spLocks noGrp="1"/>
          </p:cNvSpPr>
          <p:nvPr>
            <p:ph type="sldNum" sz="quarter" idx="5"/>
          </p:nvPr>
        </p:nvSpPr>
        <p:spPr/>
        <p:txBody>
          <a:bodyPr/>
          <a:lstStyle/>
          <a:p>
            <a:fld id="{79BAAF3F-D3DF-4DBB-AC14-34B412D70634}" type="slidenum">
              <a:rPr lang="en-CA" smtClean="0"/>
              <a:t>7</a:t>
            </a:fld>
            <a:endParaRPr lang="en-CA"/>
          </a:p>
        </p:txBody>
      </p:sp>
    </p:spTree>
    <p:extLst>
      <p:ext uri="{BB962C8B-B14F-4D97-AF65-F5344CB8AC3E}">
        <p14:creationId xmlns:p14="http://schemas.microsoft.com/office/powerpoint/2010/main" val="4032882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https://developer.spotify.com/documentation/web-api/reference/get-audio-features </a:t>
            </a:r>
          </a:p>
          <a:p>
            <a:endParaRPr lang="en-CA" dirty="0"/>
          </a:p>
          <a:p>
            <a:pPr marL="171450" indent="-171450">
              <a:buFontTx/>
              <a:buChar char="-"/>
            </a:pPr>
            <a:r>
              <a:rPr lang="en-CA" dirty="0"/>
              <a:t>Looking at the results, the relatively high RMSE and low </a:t>
            </a:r>
            <a:r>
              <a:rPr lang="en-CA" dirty="0" err="1"/>
              <a:t>rsquared</a:t>
            </a:r>
            <a:r>
              <a:rPr lang="en-CA" dirty="0"/>
              <a:t> for both models suggest that acoustic features alone cannot highly predict music preference</a:t>
            </a:r>
          </a:p>
          <a:p>
            <a:pPr marL="171450" indent="-171450">
              <a:buFontTx/>
              <a:buChar char="-"/>
            </a:pPr>
            <a:r>
              <a:rPr lang="en-CA" dirty="0"/>
              <a:t>However, since there was enough power to still observe a small significant association between PCs and popularity, we can start to break that down. </a:t>
            </a:r>
          </a:p>
          <a:p>
            <a:pPr marL="171450" indent="-171450">
              <a:buFontTx/>
              <a:buChar char="-"/>
            </a:pPr>
            <a:r>
              <a:rPr lang="en-CA" dirty="0"/>
              <a:t>PC1 grouped music that was sad, slow, and acoustic. </a:t>
            </a:r>
          </a:p>
          <a:p>
            <a:pPr marL="171450" indent="-171450">
              <a:buFontTx/>
              <a:buChar char="-"/>
            </a:pPr>
            <a:r>
              <a:rPr lang="en-CA" dirty="0"/>
              <a:t>PC2 grouped music that was fast, energetic, and non-acoustic. </a:t>
            </a:r>
          </a:p>
          <a:p>
            <a:pPr marL="171450" indent="-171450">
              <a:buFontTx/>
              <a:buChar char="-"/>
            </a:pPr>
            <a:r>
              <a:rPr lang="en-CA" dirty="0"/>
              <a:t>And PC4 grouped music that was shorter in duration, upbeat, and acoustic. </a:t>
            </a:r>
          </a:p>
        </p:txBody>
      </p:sp>
      <p:sp>
        <p:nvSpPr>
          <p:cNvPr id="4" name="Slide Number Placeholder 3"/>
          <p:cNvSpPr>
            <a:spLocks noGrp="1"/>
          </p:cNvSpPr>
          <p:nvPr>
            <p:ph type="sldNum" sz="quarter" idx="5"/>
          </p:nvPr>
        </p:nvSpPr>
        <p:spPr/>
        <p:txBody>
          <a:bodyPr/>
          <a:lstStyle/>
          <a:p>
            <a:fld id="{79BAAF3F-D3DF-4DBB-AC14-34B412D70634}" type="slidenum">
              <a:rPr lang="en-CA" smtClean="0"/>
              <a:t>8</a:t>
            </a:fld>
            <a:endParaRPr lang="en-CA"/>
          </a:p>
        </p:txBody>
      </p:sp>
    </p:spTree>
    <p:extLst>
      <p:ext uri="{BB962C8B-B14F-4D97-AF65-F5344CB8AC3E}">
        <p14:creationId xmlns:p14="http://schemas.microsoft.com/office/powerpoint/2010/main" val="3516610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06320-511E-C577-DFEB-0C077DD67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018CDB-0592-B049-D7BA-9F8B08A73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DFFC3C-3E49-D2F2-BBA6-83962E9EB0AE}"/>
              </a:ext>
            </a:extLst>
          </p:cNvPr>
          <p:cNvSpPr>
            <a:spLocks noGrp="1"/>
          </p:cNvSpPr>
          <p:nvPr>
            <p:ph type="body" idx="1"/>
          </p:nvPr>
        </p:nvSpPr>
        <p:spPr/>
        <p:txBody>
          <a:bodyPr/>
          <a:lstStyle/>
          <a:p>
            <a:r>
              <a:rPr lang="en-CA" dirty="0"/>
              <a:t>https://developer.spotify.com/documentation/web-api/reference/get-audio-features </a:t>
            </a:r>
          </a:p>
          <a:p>
            <a:pPr marL="171450" indent="-171450">
              <a:buFontTx/>
              <a:buChar char="-"/>
            </a:pPr>
            <a:r>
              <a:rPr lang="en-CA" dirty="0"/>
              <a:t>Further breaking down the 4 highest acoustic feature correlations with each model, we can get a better insight on how to better use these features to improve music preference. </a:t>
            </a:r>
          </a:p>
          <a:p>
            <a:pPr marL="171450" indent="-171450">
              <a:buFontTx/>
              <a:buChar char="-"/>
            </a:pPr>
            <a:r>
              <a:rPr lang="en-CA" dirty="0"/>
              <a:t>Overall, the random forest regression showed that listeners preferred music that combined less acoustics, more danceable, lower energy, and more major or positive music. </a:t>
            </a:r>
          </a:p>
          <a:p>
            <a:pPr marL="171450" indent="-171450">
              <a:buFontTx/>
              <a:buChar char="-"/>
            </a:pPr>
            <a:r>
              <a:rPr lang="en-CA" dirty="0"/>
              <a:t>Whereas the regression model with boosting showed that listeners preferred is a combination of less acoustics, more danceable, slower tempo, and positive major music. </a:t>
            </a:r>
          </a:p>
          <a:p>
            <a:pPr marL="171450" indent="-171450">
              <a:buFontTx/>
              <a:buChar char="-"/>
            </a:pPr>
            <a:endParaRPr lang="en-CA" dirty="0"/>
          </a:p>
        </p:txBody>
      </p:sp>
      <p:sp>
        <p:nvSpPr>
          <p:cNvPr id="4" name="Slide Number Placeholder 3">
            <a:extLst>
              <a:ext uri="{FF2B5EF4-FFF2-40B4-BE49-F238E27FC236}">
                <a16:creationId xmlns:a16="http://schemas.microsoft.com/office/drawing/2014/main" id="{38BFEAD0-188E-E543-2866-5056B0D9C5D7}"/>
              </a:ext>
            </a:extLst>
          </p:cNvPr>
          <p:cNvSpPr>
            <a:spLocks noGrp="1"/>
          </p:cNvSpPr>
          <p:nvPr>
            <p:ph type="sldNum" sz="quarter" idx="5"/>
          </p:nvPr>
        </p:nvSpPr>
        <p:spPr/>
        <p:txBody>
          <a:bodyPr/>
          <a:lstStyle/>
          <a:p>
            <a:fld id="{79BAAF3F-D3DF-4DBB-AC14-34B412D70634}" type="slidenum">
              <a:rPr lang="en-CA" smtClean="0"/>
              <a:t>9</a:t>
            </a:fld>
            <a:endParaRPr lang="en-CA"/>
          </a:p>
        </p:txBody>
      </p:sp>
    </p:spTree>
    <p:extLst>
      <p:ext uri="{BB962C8B-B14F-4D97-AF65-F5344CB8AC3E}">
        <p14:creationId xmlns:p14="http://schemas.microsoft.com/office/powerpoint/2010/main" val="3741668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65528-96C1-59CC-3A5D-DE5535B86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F47D2-D289-A80C-A378-AEEF6036E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BBDAC-6673-6553-5B94-3F978DF6BB5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20793A9-9D3B-38B6-941F-D0AC6E8D010B}"/>
              </a:ext>
            </a:extLst>
          </p:cNvPr>
          <p:cNvSpPr>
            <a:spLocks noGrp="1"/>
          </p:cNvSpPr>
          <p:nvPr>
            <p:ph type="sldNum" sz="quarter" idx="5"/>
          </p:nvPr>
        </p:nvSpPr>
        <p:spPr/>
        <p:txBody>
          <a:bodyPr/>
          <a:lstStyle/>
          <a:p>
            <a:fld id="{79BAAF3F-D3DF-4DBB-AC14-34B412D70634}" type="slidenum">
              <a:rPr lang="en-CA" smtClean="0"/>
              <a:t>10</a:t>
            </a:fld>
            <a:endParaRPr lang="en-CA"/>
          </a:p>
        </p:txBody>
      </p:sp>
    </p:spTree>
    <p:extLst>
      <p:ext uri="{BB962C8B-B14F-4D97-AF65-F5344CB8AC3E}">
        <p14:creationId xmlns:p14="http://schemas.microsoft.com/office/powerpoint/2010/main" val="3487291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EF5DC-EA96-0754-BF57-A860EC4D38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9671DD8-8FE0-FDCD-CA27-36A4B2F25D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AE28300-B051-1CEE-CD15-3153B31AFA25}"/>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5" name="Footer Placeholder 4">
            <a:extLst>
              <a:ext uri="{FF2B5EF4-FFF2-40B4-BE49-F238E27FC236}">
                <a16:creationId xmlns:a16="http://schemas.microsoft.com/office/drawing/2014/main" id="{4A615334-F9F1-FD00-2DF4-C7BCF12969D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1884A7C-76CD-5834-0A59-1744E778960A}"/>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1828557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3CA7-9FA2-8A53-7BE4-EB5FBC85700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CE3D09D-E5EF-0E55-3D37-F96A87ED0B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2967B10-2916-66AC-CF42-C11CF01BF4D4}"/>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5" name="Footer Placeholder 4">
            <a:extLst>
              <a:ext uri="{FF2B5EF4-FFF2-40B4-BE49-F238E27FC236}">
                <a16:creationId xmlns:a16="http://schemas.microsoft.com/office/drawing/2014/main" id="{61859B41-3419-3F8A-92DD-3F01D8567EE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E8662EE-C7C5-59C1-9D45-9E8C8375A909}"/>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47316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BB0C4-66F5-3E52-0D68-E9DB0B6340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876F388-E4C9-4338-1B0D-0569BCFD94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8EFA81-23D5-39F2-A467-816A21FF8225}"/>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5" name="Footer Placeholder 4">
            <a:extLst>
              <a:ext uri="{FF2B5EF4-FFF2-40B4-BE49-F238E27FC236}">
                <a16:creationId xmlns:a16="http://schemas.microsoft.com/office/drawing/2014/main" id="{CC9539FF-371C-F469-AF1A-6D7C506A1B3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467E942-F6E2-47E5-F024-B0D532050EAD}"/>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2193835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336A0-3011-52A4-6C14-056CFCDB9F0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1287595-878B-E682-C292-532BCAFEE5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43D52709-679E-9DC6-842A-83F7AACD53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020B9CC0-005C-5525-4CB9-43B63276563D}"/>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6" name="Footer Placeholder 5">
            <a:extLst>
              <a:ext uri="{FF2B5EF4-FFF2-40B4-BE49-F238E27FC236}">
                <a16:creationId xmlns:a16="http://schemas.microsoft.com/office/drawing/2014/main" id="{BF2A87E5-5821-823B-2398-24BB53B93CC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D4C014A-9425-8DA1-997B-96CD349D5BD9}"/>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137931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06CEE-900E-A8D2-3AD2-32B86DA9105B}"/>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65D3E3B-346E-CFBA-D25C-A5864B09DD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21E07F-A047-8AC8-10ED-AC0A88C0B0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2F21F0A-EA39-86AB-904A-DAF856BC6D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103AB3-9C1C-F5BB-93DC-FB8CF25B30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63322C2-FCE5-A8B0-750E-0A6E1C8E7C34}"/>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8" name="Footer Placeholder 7">
            <a:extLst>
              <a:ext uri="{FF2B5EF4-FFF2-40B4-BE49-F238E27FC236}">
                <a16:creationId xmlns:a16="http://schemas.microsoft.com/office/drawing/2014/main" id="{3840DA03-25C2-9279-2056-5186809C70FE}"/>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ED56123-DCD6-E110-FDE8-6B0EF5F975D2}"/>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4234717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D868B-FA73-DC23-17D8-260D495BD5F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099279F-6C77-2349-B3CC-88F9C93670DF}"/>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4" name="Footer Placeholder 3">
            <a:extLst>
              <a:ext uri="{FF2B5EF4-FFF2-40B4-BE49-F238E27FC236}">
                <a16:creationId xmlns:a16="http://schemas.microsoft.com/office/drawing/2014/main" id="{CE56AF9C-0E9F-4C78-13B6-972DED923459}"/>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6D0BB4D-18D6-E9BC-EE2A-58905CA12DA1}"/>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4253351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1AFEA2-879E-6BD3-B123-886E4E4ACEB5}"/>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3" name="Footer Placeholder 2">
            <a:extLst>
              <a:ext uri="{FF2B5EF4-FFF2-40B4-BE49-F238E27FC236}">
                <a16:creationId xmlns:a16="http://schemas.microsoft.com/office/drawing/2014/main" id="{1AE073BA-3C2D-912D-E6AF-6C42229CB6D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CCF0D14-04E5-9443-9DFC-487A29DA4D2A}"/>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2125245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28434-0278-89BC-1B87-6D0CE7C5EE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C7ED0E8-9B79-9796-C50E-BA20997C78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78A75B1-878B-FCB8-6669-29A9421EDC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940DA8-3500-02DC-A1BF-C321636A367A}"/>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6" name="Footer Placeholder 5">
            <a:extLst>
              <a:ext uri="{FF2B5EF4-FFF2-40B4-BE49-F238E27FC236}">
                <a16:creationId xmlns:a16="http://schemas.microsoft.com/office/drawing/2014/main" id="{7F4A0E3D-68BF-C64E-4FE6-A528B042A79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AC5C3D1-1317-3C29-4CA3-78D4D8C1EEF0}"/>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3762936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A9888-5C3F-C36D-38F4-30A08345C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FC713EED-EAC2-C128-7F10-6725DB5779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3A8F696-DD53-C908-6AC2-D4345D94A5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71352-A73D-0A24-7D49-05F6C0907725}"/>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6" name="Footer Placeholder 5">
            <a:extLst>
              <a:ext uri="{FF2B5EF4-FFF2-40B4-BE49-F238E27FC236}">
                <a16:creationId xmlns:a16="http://schemas.microsoft.com/office/drawing/2014/main" id="{81B0A1C0-5D54-8F21-E9F3-872444A9F65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81FD510-7129-C1DB-2DFE-48727B396011}"/>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2110928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AC241-460E-B466-B417-6ABDA97F182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5FA3F01-6B81-24B2-9901-0D3B536909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18989E8-D312-02DD-338A-2C9E0E3A07D7}"/>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5" name="Footer Placeholder 4">
            <a:extLst>
              <a:ext uri="{FF2B5EF4-FFF2-40B4-BE49-F238E27FC236}">
                <a16:creationId xmlns:a16="http://schemas.microsoft.com/office/drawing/2014/main" id="{EB5DD53E-A939-4651-5B01-2BA18A73927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26F50A1-5007-52FB-3D0D-3B273A35B380}"/>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3936537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49759E-498C-FBA1-4B6F-936046D6CE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761BD41-E895-58BE-4860-4C4192AB46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7AD72AD-DB7A-4D2B-4130-1A8886E2EC81}"/>
              </a:ext>
            </a:extLst>
          </p:cNvPr>
          <p:cNvSpPr>
            <a:spLocks noGrp="1"/>
          </p:cNvSpPr>
          <p:nvPr>
            <p:ph type="dt" sz="half" idx="10"/>
          </p:nvPr>
        </p:nvSpPr>
        <p:spPr/>
        <p:txBody>
          <a:bodyPr/>
          <a:lstStyle/>
          <a:p>
            <a:fld id="{982B718A-A0BA-4609-AC51-852FD01C30C3}" type="datetimeFigureOut">
              <a:rPr lang="en-CA" smtClean="0"/>
              <a:t>2024-12-05</a:t>
            </a:fld>
            <a:endParaRPr lang="en-CA"/>
          </a:p>
        </p:txBody>
      </p:sp>
      <p:sp>
        <p:nvSpPr>
          <p:cNvPr id="5" name="Footer Placeholder 4">
            <a:extLst>
              <a:ext uri="{FF2B5EF4-FFF2-40B4-BE49-F238E27FC236}">
                <a16:creationId xmlns:a16="http://schemas.microsoft.com/office/drawing/2014/main" id="{E786712A-49F9-FC60-F760-3A4938D4814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13754B6-B78A-8DF7-0BB9-86381425CB88}"/>
              </a:ext>
            </a:extLst>
          </p:cNvPr>
          <p:cNvSpPr>
            <a:spLocks noGrp="1"/>
          </p:cNvSpPr>
          <p:nvPr>
            <p:ph type="sldNum" sz="quarter" idx="12"/>
          </p:nvPr>
        </p:nvSpPr>
        <p:spPr/>
        <p:txBody>
          <a:bodyPr/>
          <a:lstStyle/>
          <a:p>
            <a:fld id="{5200B787-FFBF-485A-8EC9-BCCF8C60DA5C}" type="slidenum">
              <a:rPr lang="en-CA" smtClean="0"/>
              <a:t>‹#›</a:t>
            </a:fld>
            <a:endParaRPr lang="en-CA"/>
          </a:p>
        </p:txBody>
      </p:sp>
    </p:spTree>
    <p:extLst>
      <p:ext uri="{BB962C8B-B14F-4D97-AF65-F5344CB8AC3E}">
        <p14:creationId xmlns:p14="http://schemas.microsoft.com/office/powerpoint/2010/main" val="121078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9CCD25-EC5A-47F2-0129-F8129AE0B8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38ECB12-1547-B5CD-D72C-7722750CDF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7432FDF-B3A5-C4D4-8930-84CE3EC9AB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2B718A-A0BA-4609-AC51-852FD01C30C3}" type="datetimeFigureOut">
              <a:rPr lang="en-CA" smtClean="0"/>
              <a:t>2024-12-05</a:t>
            </a:fld>
            <a:endParaRPr lang="en-CA"/>
          </a:p>
        </p:txBody>
      </p:sp>
      <p:sp>
        <p:nvSpPr>
          <p:cNvPr id="5" name="Footer Placeholder 4">
            <a:extLst>
              <a:ext uri="{FF2B5EF4-FFF2-40B4-BE49-F238E27FC236}">
                <a16:creationId xmlns:a16="http://schemas.microsoft.com/office/drawing/2014/main" id="{ED847B1F-B398-1B8C-9A7A-2CEA799577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CD95E451-D1B8-064D-0CB0-76D5557198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00B787-FFBF-485A-8EC9-BCCF8C60DA5C}" type="slidenum">
              <a:rPr lang="en-CA" smtClean="0"/>
              <a:t>‹#›</a:t>
            </a:fld>
            <a:endParaRPr lang="en-CA"/>
          </a:p>
        </p:txBody>
      </p:sp>
    </p:spTree>
    <p:extLst>
      <p:ext uri="{BB962C8B-B14F-4D97-AF65-F5344CB8AC3E}">
        <p14:creationId xmlns:p14="http://schemas.microsoft.com/office/powerpoint/2010/main" val="270310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www.r-project.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6" name="Rectangle 1045">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Music – DAV College, Jalandhar">
            <a:extLst>
              <a:ext uri="{FF2B5EF4-FFF2-40B4-BE49-F238E27FC236}">
                <a16:creationId xmlns:a16="http://schemas.microsoft.com/office/drawing/2014/main" id="{F739EEE6-184E-8B45-808C-DBC6AD5C40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614" r="34502" b="477"/>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7" name="Rectangle 1046">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0FBE6A-5AAE-1C6B-7E0D-FBE0EE613700}"/>
              </a:ext>
            </a:extLst>
          </p:cNvPr>
          <p:cNvSpPr>
            <a:spLocks noGrp="1"/>
          </p:cNvSpPr>
          <p:nvPr>
            <p:ph type="ctrTitle"/>
          </p:nvPr>
        </p:nvSpPr>
        <p:spPr>
          <a:xfrm>
            <a:off x="477981" y="1122363"/>
            <a:ext cx="4023360" cy="3204134"/>
          </a:xfrm>
        </p:spPr>
        <p:txBody>
          <a:bodyPr vert="horz" lIns="91440" tIns="45720" rIns="91440" bIns="45720" rtlCol="0" anchor="b">
            <a:normAutofit/>
          </a:bodyPr>
          <a:lstStyle/>
          <a:p>
            <a:pPr algn="l"/>
            <a:r>
              <a:rPr lang="en-US" sz="4400"/>
              <a:t>Exploring Feature Importance in Predicting Music Preference</a:t>
            </a:r>
          </a:p>
        </p:txBody>
      </p:sp>
      <p:sp>
        <p:nvSpPr>
          <p:cNvPr id="3" name="Subtitle 2">
            <a:extLst>
              <a:ext uri="{FF2B5EF4-FFF2-40B4-BE49-F238E27FC236}">
                <a16:creationId xmlns:a16="http://schemas.microsoft.com/office/drawing/2014/main" id="{E715064B-0FC0-AABD-EA5E-49601E456752}"/>
              </a:ext>
            </a:extLst>
          </p:cNvPr>
          <p:cNvSpPr>
            <a:spLocks noGrp="1"/>
          </p:cNvSpPr>
          <p:nvPr>
            <p:ph type="subTitle" idx="1"/>
          </p:nvPr>
        </p:nvSpPr>
        <p:spPr>
          <a:xfrm>
            <a:off x="477980" y="4872922"/>
            <a:ext cx="5273115" cy="1208141"/>
          </a:xfrm>
        </p:spPr>
        <p:txBody>
          <a:bodyPr vert="horz" lIns="91440" tIns="45720" rIns="91440" bIns="45720" rtlCol="0">
            <a:noAutofit/>
          </a:bodyPr>
          <a:lstStyle/>
          <a:p>
            <a:pPr algn="l"/>
            <a:r>
              <a:rPr lang="en-US" sz="2000" dirty="0"/>
              <a:t>Jackie Zhou</a:t>
            </a:r>
            <a:br>
              <a:rPr lang="en-US" sz="2000" dirty="0"/>
            </a:br>
            <a:r>
              <a:rPr lang="en-US" sz="1600" dirty="0"/>
              <a:t>400186858</a:t>
            </a:r>
          </a:p>
          <a:p>
            <a:pPr algn="l"/>
            <a:r>
              <a:rPr lang="en-US" sz="1600" dirty="0"/>
              <a:t>Department of Psychology, Neuroscience &amp; </a:t>
            </a:r>
            <a:r>
              <a:rPr lang="en-US" sz="1600" dirty="0" err="1"/>
              <a:t>Behaviour</a:t>
            </a:r>
            <a:endParaRPr lang="en-US" sz="1600" dirty="0"/>
          </a:p>
          <a:p>
            <a:pPr algn="l"/>
            <a:br>
              <a:rPr lang="en-US" sz="1600" dirty="0"/>
            </a:br>
            <a:r>
              <a:rPr lang="en-US" sz="1600" dirty="0"/>
              <a:t>Friday, December 6, 2024</a:t>
            </a:r>
          </a:p>
        </p:txBody>
      </p:sp>
      <p:sp>
        <p:nvSpPr>
          <p:cNvPr id="1048" name="Rectangle 104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49" name="Rectangle 104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5135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A4526-15E1-6085-E4B7-CE3BBA3E494D}"/>
              </a:ext>
            </a:extLst>
          </p:cNvPr>
          <p:cNvSpPr>
            <a:spLocks noGrp="1"/>
          </p:cNvSpPr>
          <p:nvPr>
            <p:ph type="title"/>
          </p:nvPr>
        </p:nvSpPr>
        <p:spPr>
          <a:xfrm>
            <a:off x="838200" y="314325"/>
            <a:ext cx="10515600" cy="1325563"/>
          </a:xfrm>
        </p:spPr>
        <p:txBody>
          <a:bodyPr/>
          <a:lstStyle/>
          <a:p>
            <a:r>
              <a:rPr lang="en-CA" dirty="0"/>
              <a:t>Outline</a:t>
            </a:r>
          </a:p>
        </p:txBody>
      </p:sp>
      <p:sp>
        <p:nvSpPr>
          <p:cNvPr id="3" name="Content Placeholder 2">
            <a:extLst>
              <a:ext uri="{FF2B5EF4-FFF2-40B4-BE49-F238E27FC236}">
                <a16:creationId xmlns:a16="http://schemas.microsoft.com/office/drawing/2014/main" id="{4EDD3481-D387-6117-5862-E0F6BFF59CA2}"/>
              </a:ext>
            </a:extLst>
          </p:cNvPr>
          <p:cNvSpPr>
            <a:spLocks noGrp="1"/>
          </p:cNvSpPr>
          <p:nvPr>
            <p:ph idx="1"/>
          </p:nvPr>
        </p:nvSpPr>
        <p:spPr/>
        <p:txBody>
          <a:bodyPr>
            <a:normAutofit/>
          </a:bodyPr>
          <a:lstStyle/>
          <a:p>
            <a:r>
              <a:rPr lang="en-CA" dirty="0"/>
              <a:t>Introduction + Motivation</a:t>
            </a:r>
          </a:p>
          <a:p>
            <a:r>
              <a:rPr lang="en-CA" dirty="0"/>
              <a:t>Data: Free Music Archive</a:t>
            </a:r>
          </a:p>
          <a:p>
            <a:r>
              <a:rPr lang="en-CA" dirty="0"/>
              <a:t>Methods</a:t>
            </a:r>
          </a:p>
          <a:p>
            <a:pPr lvl="1"/>
            <a:r>
              <a:rPr lang="en-CA" dirty="0"/>
              <a:t>Principal Components Analysis</a:t>
            </a:r>
          </a:p>
          <a:p>
            <a:pPr lvl="1"/>
            <a:r>
              <a:rPr lang="en-CA" dirty="0"/>
              <a:t>Regression Analyses: Random Forest and Boosting</a:t>
            </a:r>
          </a:p>
          <a:p>
            <a:r>
              <a:rPr lang="en-CA" dirty="0"/>
              <a:t>Results</a:t>
            </a:r>
          </a:p>
          <a:p>
            <a:pPr lvl="1"/>
            <a:r>
              <a:rPr lang="en-CA" dirty="0"/>
              <a:t>Regression Models Comparison</a:t>
            </a:r>
          </a:p>
          <a:p>
            <a:pPr lvl="1"/>
            <a:r>
              <a:rPr lang="en-CA" dirty="0"/>
              <a:t>PCA Feature Loadings</a:t>
            </a:r>
          </a:p>
          <a:p>
            <a:r>
              <a:rPr lang="en-CA" dirty="0"/>
              <a:t>Discussion</a:t>
            </a:r>
          </a:p>
        </p:txBody>
      </p:sp>
    </p:spTree>
    <p:extLst>
      <p:ext uri="{BB962C8B-B14F-4D97-AF65-F5344CB8AC3E}">
        <p14:creationId xmlns:p14="http://schemas.microsoft.com/office/powerpoint/2010/main" val="1620795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317E3-9F64-0702-325A-D538A2120492}"/>
              </a:ext>
            </a:extLst>
          </p:cNvPr>
          <p:cNvSpPr>
            <a:spLocks noGrp="1"/>
          </p:cNvSpPr>
          <p:nvPr>
            <p:ph type="title"/>
          </p:nvPr>
        </p:nvSpPr>
        <p:spPr>
          <a:xfrm>
            <a:off x="838200" y="314325"/>
            <a:ext cx="10515600" cy="1325563"/>
          </a:xfrm>
        </p:spPr>
        <p:txBody>
          <a:bodyPr/>
          <a:lstStyle/>
          <a:p>
            <a:r>
              <a:rPr lang="en-CA" dirty="0"/>
              <a:t>Introduction + Motivation</a:t>
            </a:r>
          </a:p>
        </p:txBody>
      </p:sp>
      <p:sp>
        <p:nvSpPr>
          <p:cNvPr id="6" name="Content Placeholder 2">
            <a:extLst>
              <a:ext uri="{FF2B5EF4-FFF2-40B4-BE49-F238E27FC236}">
                <a16:creationId xmlns:a16="http://schemas.microsoft.com/office/drawing/2014/main" id="{DBE87026-C477-986A-3C63-96F4935A1F0C}"/>
              </a:ext>
            </a:extLst>
          </p:cNvPr>
          <p:cNvSpPr>
            <a:spLocks noGrp="1"/>
          </p:cNvSpPr>
          <p:nvPr>
            <p:ph idx="1"/>
          </p:nvPr>
        </p:nvSpPr>
        <p:spPr>
          <a:xfrm>
            <a:off x="838200" y="1724025"/>
            <a:ext cx="10515600" cy="4351338"/>
          </a:xfrm>
        </p:spPr>
        <p:txBody>
          <a:bodyPr/>
          <a:lstStyle/>
          <a:p>
            <a:r>
              <a:rPr lang="en-CA" sz="2200" dirty="0"/>
              <a:t>Music popularity is influenced by a complex interplay of factors</a:t>
            </a:r>
          </a:p>
          <a:p>
            <a:pPr lvl="1"/>
            <a:r>
              <a:rPr lang="en-CA" sz="2000" dirty="0"/>
              <a:t>Artist recognition, marketing, etc.</a:t>
            </a:r>
          </a:p>
          <a:p>
            <a:pPr lvl="1"/>
            <a:r>
              <a:rPr lang="en-CA" sz="2000" dirty="0"/>
              <a:t>Qualities and acoustic features of music</a:t>
            </a:r>
          </a:p>
          <a:p>
            <a:r>
              <a:rPr lang="en-CA" sz="2200" dirty="0"/>
              <a:t>By analyzing acoustic features, we can determine specific musical features that predict the popularity and success of the song</a:t>
            </a:r>
          </a:p>
          <a:p>
            <a:r>
              <a:rPr lang="en-CA" sz="2200" dirty="0"/>
              <a:t>Further implications include identifying key features to prioritize for music recommendation, improving listener engagements</a:t>
            </a:r>
          </a:p>
        </p:txBody>
      </p:sp>
    </p:spTree>
    <p:extLst>
      <p:ext uri="{BB962C8B-B14F-4D97-AF65-F5344CB8AC3E}">
        <p14:creationId xmlns:p14="http://schemas.microsoft.com/office/powerpoint/2010/main" val="3771468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007CC-BD5A-97CC-A9E4-9FD7506508AE}"/>
              </a:ext>
            </a:extLst>
          </p:cNvPr>
          <p:cNvSpPr>
            <a:spLocks noGrp="1"/>
          </p:cNvSpPr>
          <p:nvPr>
            <p:ph type="title"/>
          </p:nvPr>
        </p:nvSpPr>
        <p:spPr>
          <a:xfrm>
            <a:off x="838200" y="314325"/>
            <a:ext cx="10515600" cy="1325563"/>
          </a:xfrm>
        </p:spPr>
        <p:txBody>
          <a:bodyPr/>
          <a:lstStyle/>
          <a:p>
            <a:r>
              <a:rPr lang="en-CA" dirty="0"/>
              <a:t>Data: Free Music Archive</a:t>
            </a:r>
          </a:p>
        </p:txBody>
      </p:sp>
      <p:sp>
        <p:nvSpPr>
          <p:cNvPr id="3" name="Content Placeholder 2">
            <a:extLst>
              <a:ext uri="{FF2B5EF4-FFF2-40B4-BE49-F238E27FC236}">
                <a16:creationId xmlns:a16="http://schemas.microsoft.com/office/drawing/2014/main" id="{CE101B2F-19C6-20EE-FB3D-93E2F2DFA8AD}"/>
              </a:ext>
            </a:extLst>
          </p:cNvPr>
          <p:cNvSpPr>
            <a:spLocks noGrp="1"/>
          </p:cNvSpPr>
          <p:nvPr>
            <p:ph idx="1"/>
          </p:nvPr>
        </p:nvSpPr>
        <p:spPr>
          <a:xfrm>
            <a:off x="838200" y="1538830"/>
            <a:ext cx="10515600" cy="785495"/>
          </a:xfrm>
        </p:spPr>
        <p:txBody>
          <a:bodyPr/>
          <a:lstStyle/>
          <a:p>
            <a:r>
              <a:rPr lang="en-CA" sz="2200" dirty="0"/>
              <a:t>The Free Music Archive (FMA) dataset is a publicly available collection of over 106,000 tracks, each annotated with metadata</a:t>
            </a:r>
          </a:p>
        </p:txBody>
      </p:sp>
      <p:grpSp>
        <p:nvGrpSpPr>
          <p:cNvPr id="5" name="Group 4">
            <a:extLst>
              <a:ext uri="{FF2B5EF4-FFF2-40B4-BE49-F238E27FC236}">
                <a16:creationId xmlns:a16="http://schemas.microsoft.com/office/drawing/2014/main" id="{D1181EB8-68A0-2EB2-86C7-C316F524F476}"/>
              </a:ext>
            </a:extLst>
          </p:cNvPr>
          <p:cNvGrpSpPr/>
          <p:nvPr/>
        </p:nvGrpSpPr>
        <p:grpSpPr>
          <a:xfrm>
            <a:off x="5920391" y="2324325"/>
            <a:ext cx="5708194" cy="4327981"/>
            <a:chOff x="430986" y="2324325"/>
            <a:chExt cx="5708194" cy="4327981"/>
          </a:xfrm>
        </p:grpSpPr>
        <p:pic>
          <p:nvPicPr>
            <p:cNvPr id="21" name="Picture 20" descr="A screenshot of a graph&#10;&#10;Description automatically generated">
              <a:extLst>
                <a:ext uri="{FF2B5EF4-FFF2-40B4-BE49-F238E27FC236}">
                  <a16:creationId xmlns:a16="http://schemas.microsoft.com/office/drawing/2014/main" id="{BFE0FA42-FA54-3B89-7747-496F55D59421}"/>
                </a:ext>
              </a:extLst>
            </p:cNvPr>
            <p:cNvPicPr>
              <a:picLocks noChangeAspect="1"/>
            </p:cNvPicPr>
            <p:nvPr/>
          </p:nvPicPr>
          <p:blipFill>
            <a:blip r:embed="rId3">
              <a:extLst>
                <a:ext uri="{28A0092B-C50C-407E-A947-70E740481C1C}">
                  <a14:useLocalDpi xmlns:a14="http://schemas.microsoft.com/office/drawing/2010/main" val="0"/>
                </a:ext>
              </a:extLst>
            </a:blip>
            <a:srcRect l="20583" r="21250"/>
            <a:stretch/>
          </p:blipFill>
          <p:spPr>
            <a:xfrm>
              <a:off x="1300480" y="2970656"/>
              <a:ext cx="4282985" cy="3681650"/>
            </a:xfrm>
            <a:prstGeom prst="rect">
              <a:avLst/>
            </a:prstGeom>
          </p:spPr>
        </p:pic>
        <p:sp>
          <p:nvSpPr>
            <p:cNvPr id="23" name="TextBox 22">
              <a:extLst>
                <a:ext uri="{FF2B5EF4-FFF2-40B4-BE49-F238E27FC236}">
                  <a16:creationId xmlns:a16="http://schemas.microsoft.com/office/drawing/2014/main" id="{C97BCE92-25AD-A55C-36E0-2074E2832E36}"/>
                </a:ext>
              </a:extLst>
            </p:cNvPr>
            <p:cNvSpPr txBox="1"/>
            <p:nvPr/>
          </p:nvSpPr>
          <p:spPr>
            <a:xfrm>
              <a:off x="430986" y="2324325"/>
              <a:ext cx="5708194" cy="646331"/>
            </a:xfrm>
            <a:prstGeom prst="rect">
              <a:avLst/>
            </a:prstGeom>
            <a:noFill/>
          </p:spPr>
          <p:txBody>
            <a:bodyPr wrap="square">
              <a:spAutoFit/>
            </a:bodyPr>
            <a:lstStyle/>
            <a:p>
              <a:pPr marL="742950" lvl="1" indent="-285750">
                <a:buFont typeface="Arial" panose="020B0604020202020204" pitchFamily="34" charset="0"/>
                <a:buChar char="•"/>
              </a:pPr>
              <a:r>
                <a:rPr lang="en-CA" sz="1800" dirty="0"/>
                <a:t>~9000 tracks included audio features extracted by Echo nest (Spotify’s music AI platform)</a:t>
              </a:r>
            </a:p>
          </p:txBody>
        </p:sp>
      </p:grpSp>
      <p:grpSp>
        <p:nvGrpSpPr>
          <p:cNvPr id="4" name="Group 3">
            <a:extLst>
              <a:ext uri="{FF2B5EF4-FFF2-40B4-BE49-F238E27FC236}">
                <a16:creationId xmlns:a16="http://schemas.microsoft.com/office/drawing/2014/main" id="{79D775A6-8560-4014-E99E-0F993382C4E4}"/>
              </a:ext>
            </a:extLst>
          </p:cNvPr>
          <p:cNvGrpSpPr/>
          <p:nvPr/>
        </p:nvGrpSpPr>
        <p:grpSpPr>
          <a:xfrm>
            <a:off x="563415" y="2324325"/>
            <a:ext cx="5352394" cy="4287976"/>
            <a:chOff x="6096000" y="2324325"/>
            <a:chExt cx="5352394" cy="4287976"/>
          </a:xfrm>
        </p:grpSpPr>
        <p:sp>
          <p:nvSpPr>
            <p:cNvPr id="25" name="TextBox 24">
              <a:extLst>
                <a:ext uri="{FF2B5EF4-FFF2-40B4-BE49-F238E27FC236}">
                  <a16:creationId xmlns:a16="http://schemas.microsoft.com/office/drawing/2014/main" id="{F5BD305F-A473-D4C6-0091-91000BE1AD45}"/>
                </a:ext>
              </a:extLst>
            </p:cNvPr>
            <p:cNvSpPr txBox="1"/>
            <p:nvPr/>
          </p:nvSpPr>
          <p:spPr>
            <a:xfrm>
              <a:off x="6096000" y="2324325"/>
              <a:ext cx="5352394" cy="923330"/>
            </a:xfrm>
            <a:prstGeom prst="rect">
              <a:avLst/>
            </a:prstGeom>
            <a:noFill/>
          </p:spPr>
          <p:txBody>
            <a:bodyPr wrap="square">
              <a:spAutoFit/>
            </a:bodyPr>
            <a:lstStyle/>
            <a:p>
              <a:pPr marL="742950" lvl="1" indent="-285750">
                <a:buFont typeface="Arial" panose="020B0604020202020204" pitchFamily="34" charset="0"/>
                <a:buChar char="•"/>
              </a:pPr>
              <a:r>
                <a:rPr lang="en-CA" sz="1800" dirty="0"/>
                <a:t>Popularity/success determined by the number of listens per track</a:t>
              </a:r>
            </a:p>
            <a:p>
              <a:pPr marL="742950" lvl="1" indent="-285750">
                <a:buFont typeface="Arial" panose="020B0604020202020204" pitchFamily="34" charset="0"/>
                <a:buChar char="•"/>
              </a:pPr>
              <a:r>
                <a:rPr lang="en-CA" sz="1800" dirty="0"/>
                <a:t>Bottom and top 2.5% removed </a:t>
              </a:r>
            </a:p>
          </p:txBody>
        </p:sp>
        <p:pic>
          <p:nvPicPr>
            <p:cNvPr id="27" name="Picture 26" descr="A purple graph with white lines&#10;&#10;Description automatically generated">
              <a:extLst>
                <a:ext uri="{FF2B5EF4-FFF2-40B4-BE49-F238E27FC236}">
                  <a16:creationId xmlns:a16="http://schemas.microsoft.com/office/drawing/2014/main" id="{2B3CB135-63B4-5F46-E261-39B9628CC7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2173" y="3268154"/>
              <a:ext cx="5016221" cy="3344147"/>
            </a:xfrm>
            <a:prstGeom prst="rect">
              <a:avLst/>
            </a:prstGeom>
          </p:spPr>
        </p:pic>
      </p:grpSp>
    </p:spTree>
    <p:extLst>
      <p:ext uri="{BB962C8B-B14F-4D97-AF65-F5344CB8AC3E}">
        <p14:creationId xmlns:p14="http://schemas.microsoft.com/office/powerpoint/2010/main" val="361393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A9852-60BF-4A19-2A3B-7888B00078E5}"/>
              </a:ext>
            </a:extLst>
          </p:cNvPr>
          <p:cNvSpPr>
            <a:spLocks noGrp="1"/>
          </p:cNvSpPr>
          <p:nvPr>
            <p:ph type="title"/>
          </p:nvPr>
        </p:nvSpPr>
        <p:spPr>
          <a:xfrm>
            <a:off x="838200" y="314325"/>
            <a:ext cx="10515600" cy="1325563"/>
          </a:xfrm>
        </p:spPr>
        <p:txBody>
          <a:bodyPr/>
          <a:lstStyle/>
          <a:p>
            <a:r>
              <a:rPr lang="en-CA" dirty="0"/>
              <a:t>Methods: PCA</a:t>
            </a:r>
          </a:p>
        </p:txBody>
      </p:sp>
      <p:pic>
        <p:nvPicPr>
          <p:cNvPr id="9" name="Content Placeholder 8" descr="A graph of a function&#10;&#10;Description automatically generated">
            <a:extLst>
              <a:ext uri="{FF2B5EF4-FFF2-40B4-BE49-F238E27FC236}">
                <a16:creationId xmlns:a16="http://schemas.microsoft.com/office/drawing/2014/main" id="{E18E2B2B-7D5C-2F5C-893C-06B85A6759C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62897" y="2928247"/>
            <a:ext cx="6466205" cy="3694974"/>
          </a:xfrm>
        </p:spPr>
      </p:pic>
      <p:sp>
        <p:nvSpPr>
          <p:cNvPr id="10" name="Content Placeholder 2">
            <a:extLst>
              <a:ext uri="{FF2B5EF4-FFF2-40B4-BE49-F238E27FC236}">
                <a16:creationId xmlns:a16="http://schemas.microsoft.com/office/drawing/2014/main" id="{C05A6345-1876-6854-B7A8-5EEE806097FA}"/>
              </a:ext>
            </a:extLst>
          </p:cNvPr>
          <p:cNvSpPr txBox="1">
            <a:spLocks/>
          </p:cNvSpPr>
          <p:nvPr/>
        </p:nvSpPr>
        <p:spPr>
          <a:xfrm>
            <a:off x="838200" y="1507525"/>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2200" dirty="0"/>
              <a:t>Principal Components Analysis used for dimensionality reduction </a:t>
            </a:r>
          </a:p>
          <a:p>
            <a:r>
              <a:rPr lang="en-CA" sz="2200" dirty="0"/>
              <a:t>Used first 5 PCs as they explain ~72% of the total variance</a:t>
            </a:r>
          </a:p>
          <a:p>
            <a:pPr lvl="1"/>
            <a:r>
              <a:rPr lang="en-CA" sz="1800" dirty="0" err="1"/>
              <a:t>log_track_listens</a:t>
            </a:r>
            <a:r>
              <a:rPr lang="en-CA" sz="1800" dirty="0"/>
              <a:t> ~ PC1 + PC2 + PC3 + PC4 + PC5</a:t>
            </a:r>
          </a:p>
        </p:txBody>
      </p:sp>
    </p:spTree>
    <p:extLst>
      <p:ext uri="{BB962C8B-B14F-4D97-AF65-F5344CB8AC3E}">
        <p14:creationId xmlns:p14="http://schemas.microsoft.com/office/powerpoint/2010/main" val="153332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62D96-4FEF-A1E1-6471-06B941DD9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0CD1B-7F46-3715-CCBF-23C7B8CDFA46}"/>
              </a:ext>
            </a:extLst>
          </p:cNvPr>
          <p:cNvSpPr>
            <a:spLocks noGrp="1"/>
          </p:cNvSpPr>
          <p:nvPr>
            <p:ph type="title"/>
          </p:nvPr>
        </p:nvSpPr>
        <p:spPr>
          <a:xfrm>
            <a:off x="838200" y="314325"/>
            <a:ext cx="10515600" cy="1325563"/>
          </a:xfrm>
        </p:spPr>
        <p:txBody>
          <a:bodyPr/>
          <a:lstStyle/>
          <a:p>
            <a:r>
              <a:rPr lang="en-CA" dirty="0"/>
              <a:t>Methods: Models</a:t>
            </a:r>
          </a:p>
        </p:txBody>
      </p:sp>
      <p:sp>
        <p:nvSpPr>
          <p:cNvPr id="10" name="Content Placeholder 2">
            <a:extLst>
              <a:ext uri="{FF2B5EF4-FFF2-40B4-BE49-F238E27FC236}">
                <a16:creationId xmlns:a16="http://schemas.microsoft.com/office/drawing/2014/main" id="{14FDD54E-EE03-3197-6466-ABA9F2D62ECC}"/>
              </a:ext>
            </a:extLst>
          </p:cNvPr>
          <p:cNvSpPr txBox="1">
            <a:spLocks/>
          </p:cNvSpPr>
          <p:nvPr/>
        </p:nvSpPr>
        <p:spPr>
          <a:xfrm>
            <a:off x="838200" y="1501600"/>
            <a:ext cx="10515600" cy="17976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200" dirty="0"/>
              <a:t>Exploring the predictive power of PCs on music popularity using regression models</a:t>
            </a:r>
          </a:p>
          <a:p>
            <a:pPr lvl="1"/>
            <a:r>
              <a:rPr lang="en-CA" sz="1800" dirty="0"/>
              <a:t>80% for Training and 20% for Testing</a:t>
            </a:r>
          </a:p>
          <a:p>
            <a:pPr lvl="1"/>
            <a:r>
              <a:rPr lang="en-CA" sz="1800" dirty="0"/>
              <a:t>Model Evaluation using</a:t>
            </a:r>
          </a:p>
          <a:p>
            <a:pPr lvl="2"/>
            <a:r>
              <a:rPr lang="en-CA" sz="1600" dirty="0"/>
              <a:t>Feature (PC) Importance</a:t>
            </a:r>
          </a:p>
          <a:p>
            <a:pPr lvl="2"/>
            <a:r>
              <a:rPr lang="en-CA" sz="1600" dirty="0"/>
              <a:t>RMSE and R-squared</a:t>
            </a:r>
          </a:p>
        </p:txBody>
      </p:sp>
      <p:sp>
        <p:nvSpPr>
          <p:cNvPr id="5" name="Content Placeholder 2">
            <a:extLst>
              <a:ext uri="{FF2B5EF4-FFF2-40B4-BE49-F238E27FC236}">
                <a16:creationId xmlns:a16="http://schemas.microsoft.com/office/drawing/2014/main" id="{7BDB6791-B0D3-1368-458A-9B0C335CFE0C}"/>
              </a:ext>
            </a:extLst>
          </p:cNvPr>
          <p:cNvSpPr txBox="1">
            <a:spLocks/>
          </p:cNvSpPr>
          <p:nvPr/>
        </p:nvSpPr>
        <p:spPr>
          <a:xfrm>
            <a:off x="838200" y="3232799"/>
            <a:ext cx="4312159" cy="47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200" b="1" dirty="0"/>
              <a:t>Random Forest Regression</a:t>
            </a:r>
          </a:p>
        </p:txBody>
      </p:sp>
      <p:sp>
        <p:nvSpPr>
          <p:cNvPr id="6" name="Content Placeholder 2">
            <a:extLst>
              <a:ext uri="{FF2B5EF4-FFF2-40B4-BE49-F238E27FC236}">
                <a16:creationId xmlns:a16="http://schemas.microsoft.com/office/drawing/2014/main" id="{D4574439-0C1A-2323-4AD9-F78C22F8785F}"/>
              </a:ext>
            </a:extLst>
          </p:cNvPr>
          <p:cNvSpPr txBox="1">
            <a:spLocks/>
          </p:cNvSpPr>
          <p:nvPr/>
        </p:nvSpPr>
        <p:spPr>
          <a:xfrm>
            <a:off x="838200" y="4652035"/>
            <a:ext cx="3902325" cy="47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200" b="1" dirty="0"/>
              <a:t>Regression with Boosting</a:t>
            </a:r>
          </a:p>
        </p:txBody>
      </p:sp>
      <p:sp>
        <p:nvSpPr>
          <p:cNvPr id="12" name="TextBox 11">
            <a:extLst>
              <a:ext uri="{FF2B5EF4-FFF2-40B4-BE49-F238E27FC236}">
                <a16:creationId xmlns:a16="http://schemas.microsoft.com/office/drawing/2014/main" id="{E5DA2C63-9E4D-5FC9-86DE-17E49006CA7B}"/>
              </a:ext>
            </a:extLst>
          </p:cNvPr>
          <p:cNvSpPr txBox="1"/>
          <p:nvPr/>
        </p:nvSpPr>
        <p:spPr>
          <a:xfrm>
            <a:off x="880324" y="3538055"/>
            <a:ext cx="5417074" cy="923330"/>
          </a:xfrm>
          <a:prstGeom prst="rect">
            <a:avLst/>
          </a:prstGeom>
          <a:noFill/>
        </p:spPr>
        <p:txBody>
          <a:bodyPr wrap="square">
            <a:spAutoFit/>
          </a:bodyPr>
          <a:lstStyle/>
          <a:p>
            <a:pPr marL="285750" indent="-285750">
              <a:buFont typeface="Arial" panose="020B0604020202020204" pitchFamily="34" charset="0"/>
              <a:buChar char="•"/>
            </a:pPr>
            <a:r>
              <a:rPr lang="en-CA" dirty="0"/>
              <a:t>Random Forest Parameter Tuning: </a:t>
            </a:r>
          </a:p>
          <a:p>
            <a:pPr marL="742950" lvl="1" indent="-285750">
              <a:buFont typeface="Arial" panose="020B0604020202020204" pitchFamily="34" charset="0"/>
              <a:buChar char="•"/>
            </a:pPr>
            <a:r>
              <a:rPr lang="en-CA" dirty="0"/>
              <a:t>500 Trees</a:t>
            </a:r>
          </a:p>
          <a:p>
            <a:pPr marL="742950" lvl="1" indent="-285750">
              <a:buFont typeface="Arial" panose="020B0604020202020204" pitchFamily="34" charset="0"/>
              <a:buChar char="•"/>
            </a:pPr>
            <a:r>
              <a:rPr lang="en-CA" dirty="0" err="1"/>
              <a:t>mtry</a:t>
            </a:r>
            <a:r>
              <a:rPr lang="en-CA" dirty="0"/>
              <a:t> = 1</a:t>
            </a:r>
          </a:p>
        </p:txBody>
      </p:sp>
      <p:sp>
        <p:nvSpPr>
          <p:cNvPr id="15" name="TextBox 14">
            <a:extLst>
              <a:ext uri="{FF2B5EF4-FFF2-40B4-BE49-F238E27FC236}">
                <a16:creationId xmlns:a16="http://schemas.microsoft.com/office/drawing/2014/main" id="{B92245F7-68E2-2A8B-0630-99E5FA80A172}"/>
              </a:ext>
            </a:extLst>
          </p:cNvPr>
          <p:cNvSpPr txBox="1"/>
          <p:nvPr/>
        </p:nvSpPr>
        <p:spPr>
          <a:xfrm>
            <a:off x="880325" y="4990829"/>
            <a:ext cx="5417073" cy="1477328"/>
          </a:xfrm>
          <a:prstGeom prst="rect">
            <a:avLst/>
          </a:prstGeom>
          <a:noFill/>
        </p:spPr>
        <p:txBody>
          <a:bodyPr wrap="square">
            <a:spAutoFit/>
          </a:bodyPr>
          <a:lstStyle/>
          <a:p>
            <a:pPr marL="285750" indent="-285750">
              <a:buFont typeface="Arial" panose="020B0604020202020204" pitchFamily="34" charset="0"/>
              <a:buChar char="•"/>
            </a:pPr>
            <a:r>
              <a:rPr lang="en-CA" dirty="0" err="1"/>
              <a:t>XGBoost</a:t>
            </a:r>
            <a:r>
              <a:rPr lang="en-CA" dirty="0"/>
              <a:t> Parameter Tuning: </a:t>
            </a:r>
          </a:p>
          <a:p>
            <a:pPr marL="742950" lvl="1" indent="-285750">
              <a:buFont typeface="Arial" panose="020B0604020202020204" pitchFamily="34" charset="0"/>
              <a:buChar char="•"/>
            </a:pPr>
            <a:r>
              <a:rPr lang="en-CA" dirty="0"/>
              <a:t>200 Trees (rounds of boosting)</a:t>
            </a:r>
          </a:p>
          <a:p>
            <a:pPr marL="742950" lvl="1" indent="-285750">
              <a:buFont typeface="Arial" panose="020B0604020202020204" pitchFamily="34" charset="0"/>
              <a:buChar char="•"/>
            </a:pPr>
            <a:r>
              <a:rPr lang="en-CA" dirty="0"/>
              <a:t>Tested depth from 1-5</a:t>
            </a:r>
          </a:p>
          <a:p>
            <a:pPr marL="742950" lvl="1" indent="-285750">
              <a:buFont typeface="Arial" panose="020B0604020202020204" pitchFamily="34" charset="0"/>
              <a:buChar char="•"/>
            </a:pPr>
            <a:r>
              <a:rPr lang="en-CA" dirty="0"/>
              <a:t>Minimizing test RMSE while using the lowest </a:t>
            </a:r>
            <a:r>
              <a:rPr lang="en-CA" dirty="0" err="1"/>
              <a:t>max_depth</a:t>
            </a:r>
            <a:r>
              <a:rPr lang="en-CA" dirty="0"/>
              <a:t>: depth of 3 at boost iteration 137</a:t>
            </a:r>
          </a:p>
        </p:txBody>
      </p:sp>
      <p:grpSp>
        <p:nvGrpSpPr>
          <p:cNvPr id="20" name="Group 19">
            <a:extLst>
              <a:ext uri="{FF2B5EF4-FFF2-40B4-BE49-F238E27FC236}">
                <a16:creationId xmlns:a16="http://schemas.microsoft.com/office/drawing/2014/main" id="{8B8BBD27-E63F-0735-7F87-9342E95DF00B}"/>
              </a:ext>
            </a:extLst>
          </p:cNvPr>
          <p:cNvGrpSpPr/>
          <p:nvPr/>
        </p:nvGrpSpPr>
        <p:grpSpPr>
          <a:xfrm>
            <a:off x="6398391" y="2255174"/>
            <a:ext cx="5650491" cy="3368350"/>
            <a:chOff x="6398391" y="2057319"/>
            <a:chExt cx="5650491" cy="3368350"/>
          </a:xfrm>
        </p:grpSpPr>
        <p:pic>
          <p:nvPicPr>
            <p:cNvPr id="11" name="Picture 10">
              <a:extLst>
                <a:ext uri="{FF2B5EF4-FFF2-40B4-BE49-F238E27FC236}">
                  <a16:creationId xmlns:a16="http://schemas.microsoft.com/office/drawing/2014/main" id="{CE6068D1-E01D-41FF-B744-57E50F6E1822}"/>
                </a:ext>
              </a:extLst>
            </p:cNvPr>
            <p:cNvPicPr>
              <a:picLocks noChangeAspect="1"/>
            </p:cNvPicPr>
            <p:nvPr/>
          </p:nvPicPr>
          <p:blipFill>
            <a:blip r:embed="rId3"/>
            <a:srcRect l="190" t="709" r="519" b="1750"/>
            <a:stretch/>
          </p:blipFill>
          <p:spPr>
            <a:xfrm>
              <a:off x="6398391" y="2113998"/>
              <a:ext cx="5650491" cy="3311671"/>
            </a:xfrm>
            <a:prstGeom prst="rect">
              <a:avLst/>
            </a:prstGeom>
          </p:spPr>
        </p:pic>
        <p:pic>
          <p:nvPicPr>
            <p:cNvPr id="16" name="Picture 15">
              <a:extLst>
                <a:ext uri="{FF2B5EF4-FFF2-40B4-BE49-F238E27FC236}">
                  <a16:creationId xmlns:a16="http://schemas.microsoft.com/office/drawing/2014/main" id="{B12216E2-DAD1-77FC-B198-A126FC894522}"/>
                </a:ext>
              </a:extLst>
            </p:cNvPr>
            <p:cNvPicPr>
              <a:picLocks noChangeAspect="1"/>
            </p:cNvPicPr>
            <p:nvPr/>
          </p:nvPicPr>
          <p:blipFill>
            <a:blip r:embed="rId4"/>
            <a:stretch>
              <a:fillRect/>
            </a:stretch>
          </p:blipFill>
          <p:spPr>
            <a:xfrm>
              <a:off x="7137286" y="2444076"/>
              <a:ext cx="3998073" cy="2564803"/>
            </a:xfrm>
            <a:prstGeom prst="rect">
              <a:avLst/>
            </a:prstGeom>
          </p:spPr>
        </p:pic>
        <p:pic>
          <p:nvPicPr>
            <p:cNvPr id="18" name="Picture 17">
              <a:extLst>
                <a:ext uri="{FF2B5EF4-FFF2-40B4-BE49-F238E27FC236}">
                  <a16:creationId xmlns:a16="http://schemas.microsoft.com/office/drawing/2014/main" id="{345CEF66-BD5A-50B4-1E68-912CD8299257}"/>
                </a:ext>
              </a:extLst>
            </p:cNvPr>
            <p:cNvPicPr>
              <a:picLocks noChangeAspect="1"/>
            </p:cNvPicPr>
            <p:nvPr/>
          </p:nvPicPr>
          <p:blipFill>
            <a:blip r:embed="rId4"/>
            <a:stretch>
              <a:fillRect/>
            </a:stretch>
          </p:blipFill>
          <p:spPr>
            <a:xfrm>
              <a:off x="6628080" y="2581827"/>
              <a:ext cx="311085" cy="2427052"/>
            </a:xfrm>
            <a:prstGeom prst="rect">
              <a:avLst/>
            </a:prstGeom>
          </p:spPr>
        </p:pic>
        <p:pic>
          <p:nvPicPr>
            <p:cNvPr id="19" name="Picture 18">
              <a:extLst>
                <a:ext uri="{FF2B5EF4-FFF2-40B4-BE49-F238E27FC236}">
                  <a16:creationId xmlns:a16="http://schemas.microsoft.com/office/drawing/2014/main" id="{A7B749E1-8389-21B9-99AD-43E7789F1B7D}"/>
                </a:ext>
              </a:extLst>
            </p:cNvPr>
            <p:cNvPicPr>
              <a:picLocks noChangeAspect="1"/>
            </p:cNvPicPr>
            <p:nvPr/>
          </p:nvPicPr>
          <p:blipFill>
            <a:blip r:embed="rId4"/>
            <a:stretch>
              <a:fillRect/>
            </a:stretch>
          </p:blipFill>
          <p:spPr>
            <a:xfrm>
              <a:off x="8748318" y="2057319"/>
              <a:ext cx="1591361" cy="302341"/>
            </a:xfrm>
            <a:prstGeom prst="rect">
              <a:avLst/>
            </a:prstGeom>
          </p:spPr>
        </p:pic>
      </p:grpSp>
    </p:spTree>
    <p:extLst>
      <p:ext uri="{BB962C8B-B14F-4D97-AF65-F5344CB8AC3E}">
        <p14:creationId xmlns:p14="http://schemas.microsoft.com/office/powerpoint/2010/main" val="1778405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CFA5-6FFC-03F6-2490-70BFCAA0D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2013A-4DB0-4A01-6E04-7AE89CE1D5EF}"/>
              </a:ext>
            </a:extLst>
          </p:cNvPr>
          <p:cNvSpPr>
            <a:spLocks noGrp="1"/>
          </p:cNvSpPr>
          <p:nvPr>
            <p:ph type="title"/>
          </p:nvPr>
        </p:nvSpPr>
        <p:spPr>
          <a:xfrm>
            <a:off x="838200" y="314325"/>
            <a:ext cx="10515600" cy="1325563"/>
          </a:xfrm>
        </p:spPr>
        <p:txBody>
          <a:bodyPr/>
          <a:lstStyle/>
          <a:p>
            <a:r>
              <a:rPr lang="en-CA" dirty="0"/>
              <a:t>Results: Model Comparison &amp; PCA Loadings</a:t>
            </a:r>
          </a:p>
        </p:txBody>
      </p:sp>
      <p:sp>
        <p:nvSpPr>
          <p:cNvPr id="4" name="Content Placeholder 2">
            <a:extLst>
              <a:ext uri="{FF2B5EF4-FFF2-40B4-BE49-F238E27FC236}">
                <a16:creationId xmlns:a16="http://schemas.microsoft.com/office/drawing/2014/main" id="{16E762AA-C838-1598-A947-1953FFDC972D}"/>
              </a:ext>
            </a:extLst>
          </p:cNvPr>
          <p:cNvSpPr txBox="1">
            <a:spLocks/>
          </p:cNvSpPr>
          <p:nvPr/>
        </p:nvSpPr>
        <p:spPr>
          <a:xfrm>
            <a:off x="264116" y="1843950"/>
            <a:ext cx="3601720" cy="194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200" b="1" dirty="0"/>
              <a:t>Random Forest Regression</a:t>
            </a:r>
          </a:p>
          <a:p>
            <a:r>
              <a:rPr lang="en-CA" sz="2000" dirty="0"/>
              <a:t>RMSE: 1.043</a:t>
            </a:r>
          </a:p>
          <a:p>
            <a:r>
              <a:rPr lang="en-CA" sz="2000" dirty="0"/>
              <a:t>R-squared = 0.054***</a:t>
            </a:r>
          </a:p>
          <a:p>
            <a:r>
              <a:rPr lang="en-CA" sz="2000" dirty="0"/>
              <a:t>Most Important: PC1, PC2</a:t>
            </a:r>
          </a:p>
        </p:txBody>
      </p:sp>
      <p:sp>
        <p:nvSpPr>
          <p:cNvPr id="5" name="Content Placeholder 2">
            <a:extLst>
              <a:ext uri="{FF2B5EF4-FFF2-40B4-BE49-F238E27FC236}">
                <a16:creationId xmlns:a16="http://schemas.microsoft.com/office/drawing/2014/main" id="{9509542F-A29C-9559-6B47-D4882E37C432}"/>
              </a:ext>
            </a:extLst>
          </p:cNvPr>
          <p:cNvSpPr txBox="1">
            <a:spLocks/>
          </p:cNvSpPr>
          <p:nvPr/>
        </p:nvSpPr>
        <p:spPr>
          <a:xfrm>
            <a:off x="264115" y="4118772"/>
            <a:ext cx="3601721" cy="21684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200" b="1" dirty="0"/>
              <a:t>Regression with Boosting</a:t>
            </a:r>
          </a:p>
          <a:p>
            <a:r>
              <a:rPr lang="en-CA" sz="2000" dirty="0"/>
              <a:t>RMSE: 1.026</a:t>
            </a:r>
          </a:p>
          <a:p>
            <a:r>
              <a:rPr lang="en-CA" sz="2000" dirty="0"/>
              <a:t>R-squared = 0.075***</a:t>
            </a:r>
          </a:p>
          <a:p>
            <a:r>
              <a:rPr lang="en-CA" sz="2000" dirty="0"/>
              <a:t>Most Important: PC1, PC4</a:t>
            </a:r>
          </a:p>
        </p:txBody>
      </p:sp>
      <p:pic>
        <p:nvPicPr>
          <p:cNvPr id="10" name="Picture 9">
            <a:extLst>
              <a:ext uri="{FF2B5EF4-FFF2-40B4-BE49-F238E27FC236}">
                <a16:creationId xmlns:a16="http://schemas.microsoft.com/office/drawing/2014/main" id="{D0FE192A-FD58-9BE8-3FF1-64F2B20B00BB}"/>
              </a:ext>
            </a:extLst>
          </p:cNvPr>
          <p:cNvPicPr>
            <a:picLocks noChangeAspect="1"/>
          </p:cNvPicPr>
          <p:nvPr/>
        </p:nvPicPr>
        <p:blipFill>
          <a:blip r:embed="rId3"/>
          <a:srcRect r="13324"/>
          <a:stretch/>
        </p:blipFill>
        <p:spPr>
          <a:xfrm>
            <a:off x="7976363" y="1639888"/>
            <a:ext cx="3423079" cy="2356150"/>
          </a:xfrm>
          <a:prstGeom prst="rect">
            <a:avLst/>
          </a:prstGeom>
        </p:spPr>
      </p:pic>
      <p:pic>
        <p:nvPicPr>
          <p:cNvPr id="11" name="Picture 10">
            <a:extLst>
              <a:ext uri="{FF2B5EF4-FFF2-40B4-BE49-F238E27FC236}">
                <a16:creationId xmlns:a16="http://schemas.microsoft.com/office/drawing/2014/main" id="{F8813146-4440-181E-1725-31C34304FAD9}"/>
              </a:ext>
            </a:extLst>
          </p:cNvPr>
          <p:cNvPicPr>
            <a:picLocks noChangeAspect="1"/>
          </p:cNvPicPr>
          <p:nvPr/>
        </p:nvPicPr>
        <p:blipFill>
          <a:blip r:embed="rId3"/>
          <a:srcRect l="86518"/>
          <a:stretch/>
        </p:blipFill>
        <p:spPr>
          <a:xfrm>
            <a:off x="11362357" y="2160434"/>
            <a:ext cx="829643" cy="3671208"/>
          </a:xfrm>
          <a:prstGeom prst="rect">
            <a:avLst/>
          </a:prstGeom>
        </p:spPr>
      </p:pic>
      <p:pic>
        <p:nvPicPr>
          <p:cNvPr id="12" name="Picture 11">
            <a:extLst>
              <a:ext uri="{FF2B5EF4-FFF2-40B4-BE49-F238E27FC236}">
                <a16:creationId xmlns:a16="http://schemas.microsoft.com/office/drawing/2014/main" id="{300AF724-612B-811E-A616-ACD5C3629BE2}"/>
              </a:ext>
            </a:extLst>
          </p:cNvPr>
          <p:cNvPicPr>
            <a:picLocks noChangeAspect="1"/>
          </p:cNvPicPr>
          <p:nvPr/>
        </p:nvPicPr>
        <p:blipFill>
          <a:blip r:embed="rId4"/>
          <a:srcRect r="13325"/>
          <a:stretch/>
        </p:blipFill>
        <p:spPr>
          <a:xfrm>
            <a:off x="7976366" y="4096466"/>
            <a:ext cx="3423076" cy="2356149"/>
          </a:xfrm>
          <a:prstGeom prst="rect">
            <a:avLst/>
          </a:prstGeom>
        </p:spPr>
      </p:pic>
      <p:pic>
        <p:nvPicPr>
          <p:cNvPr id="13" name="Picture 12" descr="A screenshot of a graph&#10;&#10;Description automatically generated">
            <a:extLst>
              <a:ext uri="{FF2B5EF4-FFF2-40B4-BE49-F238E27FC236}">
                <a16:creationId xmlns:a16="http://schemas.microsoft.com/office/drawing/2014/main" id="{D7C953DE-BDC9-64E9-80A7-5BAB954D6E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65836" y="1575237"/>
            <a:ext cx="4064885" cy="4877862"/>
          </a:xfrm>
          <a:prstGeom prst="rect">
            <a:avLst/>
          </a:prstGeom>
        </p:spPr>
      </p:pic>
    </p:spTree>
    <p:extLst>
      <p:ext uri="{BB962C8B-B14F-4D97-AF65-F5344CB8AC3E}">
        <p14:creationId xmlns:p14="http://schemas.microsoft.com/office/powerpoint/2010/main" val="3420711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B8DFA-F50E-7432-B66F-08A24879302F}"/>
              </a:ext>
            </a:extLst>
          </p:cNvPr>
          <p:cNvSpPr>
            <a:spLocks noGrp="1"/>
          </p:cNvSpPr>
          <p:nvPr>
            <p:ph type="title"/>
          </p:nvPr>
        </p:nvSpPr>
        <p:spPr>
          <a:xfrm>
            <a:off x="838200" y="314325"/>
            <a:ext cx="10515600" cy="1325563"/>
          </a:xfrm>
        </p:spPr>
        <p:txBody>
          <a:bodyPr/>
          <a:lstStyle/>
          <a:p>
            <a:r>
              <a:rPr lang="en-CA" dirty="0"/>
              <a:t>Discussion: PC and Feature Loadings</a:t>
            </a:r>
          </a:p>
        </p:txBody>
      </p:sp>
      <p:sp>
        <p:nvSpPr>
          <p:cNvPr id="15" name="Content Placeholder 2">
            <a:extLst>
              <a:ext uri="{FF2B5EF4-FFF2-40B4-BE49-F238E27FC236}">
                <a16:creationId xmlns:a16="http://schemas.microsoft.com/office/drawing/2014/main" id="{6271D446-C7F8-6855-C5FD-5B494E48DB49}"/>
              </a:ext>
            </a:extLst>
          </p:cNvPr>
          <p:cNvSpPr txBox="1">
            <a:spLocks/>
          </p:cNvSpPr>
          <p:nvPr/>
        </p:nvSpPr>
        <p:spPr>
          <a:xfrm>
            <a:off x="838200" y="3044952"/>
            <a:ext cx="5105400" cy="349872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000" b="1" dirty="0"/>
              <a:t>Random Forest Regression</a:t>
            </a:r>
          </a:p>
          <a:p>
            <a:r>
              <a:rPr lang="en-CA" sz="2000" b="1" dirty="0"/>
              <a:t>PC1: </a:t>
            </a:r>
            <a:r>
              <a:rPr lang="en-CA" sz="2000" dirty="0">
                <a:solidFill>
                  <a:schemeClr val="accent4"/>
                </a:solidFill>
              </a:rPr>
              <a:t>Low valence</a:t>
            </a:r>
            <a:r>
              <a:rPr lang="en-CA" sz="2000" dirty="0"/>
              <a:t>, </a:t>
            </a:r>
            <a:r>
              <a:rPr lang="en-CA" sz="2000" dirty="0">
                <a:solidFill>
                  <a:schemeClr val="accent4"/>
                </a:solidFill>
              </a:rPr>
              <a:t>low danceability</a:t>
            </a:r>
            <a:r>
              <a:rPr lang="en-CA" sz="2000" dirty="0"/>
              <a:t>, </a:t>
            </a:r>
            <a:r>
              <a:rPr lang="en-CA" sz="2000" dirty="0">
                <a:solidFill>
                  <a:srgbClr val="FF0000"/>
                </a:solidFill>
              </a:rPr>
              <a:t>high </a:t>
            </a:r>
            <a:r>
              <a:rPr lang="en-CA" sz="2000" dirty="0" err="1">
                <a:solidFill>
                  <a:srgbClr val="FF0000"/>
                </a:solidFill>
              </a:rPr>
              <a:t>acousticness</a:t>
            </a:r>
            <a:r>
              <a:rPr lang="en-CA" sz="2000" dirty="0">
                <a:solidFill>
                  <a:srgbClr val="FF0000"/>
                </a:solidFill>
              </a:rPr>
              <a:t> </a:t>
            </a:r>
          </a:p>
          <a:p>
            <a:pPr lvl="1"/>
            <a:r>
              <a:rPr lang="en-CA" sz="1600" i="1" dirty="0">
                <a:solidFill>
                  <a:schemeClr val="accent4"/>
                </a:solidFill>
                <a:sym typeface="Wingdings" panose="05000000000000000000" pitchFamily="2" charset="2"/>
              </a:rPr>
              <a:t>Sad</a:t>
            </a:r>
            <a:r>
              <a:rPr lang="en-CA" sz="1600" i="1" dirty="0">
                <a:sym typeface="Wingdings" panose="05000000000000000000" pitchFamily="2" charset="2"/>
              </a:rPr>
              <a:t>, </a:t>
            </a:r>
            <a:r>
              <a:rPr lang="en-CA" sz="1600" i="1" dirty="0">
                <a:solidFill>
                  <a:schemeClr val="accent4"/>
                </a:solidFill>
                <a:sym typeface="Wingdings" panose="05000000000000000000" pitchFamily="2" charset="2"/>
              </a:rPr>
              <a:t>slow</a:t>
            </a:r>
            <a:r>
              <a:rPr lang="en-CA" sz="1600" i="1" dirty="0">
                <a:sym typeface="Wingdings" panose="05000000000000000000" pitchFamily="2" charset="2"/>
              </a:rPr>
              <a:t>, </a:t>
            </a:r>
            <a:r>
              <a:rPr lang="en-CA" sz="1600" i="1" dirty="0">
                <a:solidFill>
                  <a:srgbClr val="FF0000"/>
                </a:solidFill>
                <a:sym typeface="Wingdings" panose="05000000000000000000" pitchFamily="2" charset="2"/>
              </a:rPr>
              <a:t>acoustic</a:t>
            </a:r>
            <a:r>
              <a:rPr lang="en-CA" sz="1600" i="1" dirty="0">
                <a:sym typeface="Wingdings" panose="05000000000000000000" pitchFamily="2" charset="2"/>
              </a:rPr>
              <a:t> music</a:t>
            </a:r>
            <a:endParaRPr lang="en-CA" sz="1600" i="1" dirty="0"/>
          </a:p>
          <a:p>
            <a:r>
              <a:rPr lang="en-CA" sz="2000" b="1" dirty="0"/>
              <a:t>PC2: </a:t>
            </a:r>
            <a:r>
              <a:rPr lang="en-CA" sz="2000" dirty="0">
                <a:solidFill>
                  <a:srgbClr val="FF0000"/>
                </a:solidFill>
              </a:rPr>
              <a:t>High energy </a:t>
            </a:r>
            <a:r>
              <a:rPr lang="en-CA" sz="2000" dirty="0"/>
              <a:t>&amp; </a:t>
            </a:r>
            <a:r>
              <a:rPr lang="en-CA" sz="2000" dirty="0">
                <a:solidFill>
                  <a:srgbClr val="FF0000"/>
                </a:solidFill>
              </a:rPr>
              <a:t>fast tempo</a:t>
            </a:r>
            <a:r>
              <a:rPr lang="en-CA" sz="2000" dirty="0"/>
              <a:t>, </a:t>
            </a:r>
            <a:r>
              <a:rPr lang="en-CA" sz="2000" dirty="0">
                <a:solidFill>
                  <a:schemeClr val="accent4"/>
                </a:solidFill>
              </a:rPr>
              <a:t>low danceability</a:t>
            </a:r>
            <a:r>
              <a:rPr lang="en-CA" sz="2000" dirty="0"/>
              <a:t>, </a:t>
            </a:r>
            <a:r>
              <a:rPr lang="en-CA" sz="2000" dirty="0">
                <a:solidFill>
                  <a:schemeClr val="accent4"/>
                </a:solidFill>
              </a:rPr>
              <a:t>low </a:t>
            </a:r>
            <a:r>
              <a:rPr lang="en-CA" sz="2000" dirty="0" err="1">
                <a:solidFill>
                  <a:schemeClr val="accent4"/>
                </a:solidFill>
              </a:rPr>
              <a:t>acousticness</a:t>
            </a:r>
            <a:r>
              <a:rPr lang="en-CA" sz="2000" dirty="0">
                <a:solidFill>
                  <a:schemeClr val="accent4"/>
                </a:solidFill>
              </a:rPr>
              <a:t> </a:t>
            </a:r>
          </a:p>
          <a:p>
            <a:pPr lvl="1"/>
            <a:r>
              <a:rPr lang="en-CA" sz="1600" i="1" dirty="0">
                <a:solidFill>
                  <a:srgbClr val="FF0000"/>
                </a:solidFill>
                <a:sym typeface="Wingdings" panose="05000000000000000000" pitchFamily="2" charset="2"/>
              </a:rPr>
              <a:t>Fast</a:t>
            </a:r>
            <a:r>
              <a:rPr lang="en-CA" sz="1600" i="1" dirty="0">
                <a:sym typeface="Wingdings" panose="05000000000000000000" pitchFamily="2" charset="2"/>
              </a:rPr>
              <a:t>, </a:t>
            </a:r>
            <a:r>
              <a:rPr lang="en-CA" sz="1600" i="1" dirty="0">
                <a:solidFill>
                  <a:srgbClr val="FF0000"/>
                </a:solidFill>
                <a:sym typeface="Wingdings" panose="05000000000000000000" pitchFamily="2" charset="2"/>
              </a:rPr>
              <a:t>energetic</a:t>
            </a:r>
            <a:r>
              <a:rPr lang="en-CA" sz="1600" i="1" dirty="0">
                <a:sym typeface="Wingdings" panose="05000000000000000000" pitchFamily="2" charset="2"/>
              </a:rPr>
              <a:t>, </a:t>
            </a:r>
            <a:r>
              <a:rPr lang="en-CA" sz="1600" i="1" dirty="0">
                <a:solidFill>
                  <a:schemeClr val="accent4"/>
                </a:solidFill>
                <a:sym typeface="Wingdings" panose="05000000000000000000" pitchFamily="2" charset="2"/>
              </a:rPr>
              <a:t>electronic</a:t>
            </a:r>
            <a:r>
              <a:rPr lang="en-CA" sz="1600" i="1" dirty="0">
                <a:sym typeface="Wingdings" panose="05000000000000000000" pitchFamily="2" charset="2"/>
              </a:rPr>
              <a:t> music</a:t>
            </a:r>
            <a:br>
              <a:rPr lang="en-CA" sz="1600" i="1" dirty="0">
                <a:sym typeface="Wingdings" panose="05000000000000000000" pitchFamily="2" charset="2"/>
              </a:rPr>
            </a:br>
            <a:endParaRPr lang="en-CA" sz="2000" dirty="0"/>
          </a:p>
          <a:p>
            <a:pPr marL="0" indent="0">
              <a:buNone/>
            </a:pPr>
            <a:r>
              <a:rPr lang="en-CA" sz="2000" b="1" dirty="0"/>
              <a:t>Regression with Boosting</a:t>
            </a:r>
          </a:p>
          <a:p>
            <a:r>
              <a:rPr lang="en-CA" sz="2000" b="1" dirty="0"/>
              <a:t>PC1: </a:t>
            </a:r>
            <a:r>
              <a:rPr lang="en-CA" sz="2000" i="1" dirty="0">
                <a:solidFill>
                  <a:schemeClr val="accent4"/>
                </a:solidFill>
                <a:sym typeface="Wingdings" panose="05000000000000000000" pitchFamily="2" charset="2"/>
              </a:rPr>
              <a:t>Sad</a:t>
            </a:r>
            <a:r>
              <a:rPr lang="en-CA" sz="2000" i="1" dirty="0">
                <a:sym typeface="Wingdings" panose="05000000000000000000" pitchFamily="2" charset="2"/>
              </a:rPr>
              <a:t>, </a:t>
            </a:r>
            <a:r>
              <a:rPr lang="en-CA" sz="2000" i="1" dirty="0">
                <a:solidFill>
                  <a:schemeClr val="accent4"/>
                </a:solidFill>
                <a:sym typeface="Wingdings" panose="05000000000000000000" pitchFamily="2" charset="2"/>
              </a:rPr>
              <a:t>slow</a:t>
            </a:r>
            <a:r>
              <a:rPr lang="en-CA" sz="2000" i="1" dirty="0">
                <a:sym typeface="Wingdings" panose="05000000000000000000" pitchFamily="2" charset="2"/>
              </a:rPr>
              <a:t>, </a:t>
            </a:r>
            <a:r>
              <a:rPr lang="en-CA" sz="2000" i="1" dirty="0">
                <a:solidFill>
                  <a:srgbClr val="FF0000"/>
                </a:solidFill>
                <a:sym typeface="Wingdings" panose="05000000000000000000" pitchFamily="2" charset="2"/>
              </a:rPr>
              <a:t>acoustic</a:t>
            </a:r>
            <a:r>
              <a:rPr lang="en-CA" sz="2000" i="1" dirty="0">
                <a:sym typeface="Wingdings" panose="05000000000000000000" pitchFamily="2" charset="2"/>
              </a:rPr>
              <a:t> music</a:t>
            </a:r>
            <a:endParaRPr lang="en-CA" sz="2000" i="1" dirty="0"/>
          </a:p>
          <a:p>
            <a:r>
              <a:rPr lang="en-CA" sz="2000" b="1" dirty="0"/>
              <a:t>PC4: </a:t>
            </a:r>
            <a:r>
              <a:rPr lang="en-CA" sz="2000" dirty="0">
                <a:solidFill>
                  <a:srgbClr val="FF0000"/>
                </a:solidFill>
              </a:rPr>
              <a:t>Fast tempo</a:t>
            </a:r>
            <a:r>
              <a:rPr lang="en-CA" sz="2000" dirty="0"/>
              <a:t>, </a:t>
            </a:r>
            <a:r>
              <a:rPr lang="en-CA" sz="2000" dirty="0">
                <a:solidFill>
                  <a:srgbClr val="FF0000"/>
                </a:solidFill>
              </a:rPr>
              <a:t>high </a:t>
            </a:r>
            <a:r>
              <a:rPr lang="en-CA" sz="2000" dirty="0" err="1">
                <a:solidFill>
                  <a:srgbClr val="FF0000"/>
                </a:solidFill>
              </a:rPr>
              <a:t>acousticness</a:t>
            </a:r>
            <a:r>
              <a:rPr lang="en-CA" sz="2000" dirty="0"/>
              <a:t>, </a:t>
            </a:r>
            <a:r>
              <a:rPr lang="en-CA" sz="2000" dirty="0">
                <a:solidFill>
                  <a:schemeClr val="accent4"/>
                </a:solidFill>
              </a:rPr>
              <a:t>short duration </a:t>
            </a:r>
          </a:p>
          <a:p>
            <a:pPr lvl="1"/>
            <a:r>
              <a:rPr lang="en-CA" sz="1600" i="1" dirty="0">
                <a:solidFill>
                  <a:schemeClr val="accent4"/>
                </a:solidFill>
                <a:sym typeface="Wingdings" panose="05000000000000000000" pitchFamily="2" charset="2"/>
              </a:rPr>
              <a:t>Short</a:t>
            </a:r>
            <a:r>
              <a:rPr lang="en-CA" sz="1600" i="1" dirty="0">
                <a:sym typeface="Wingdings" panose="05000000000000000000" pitchFamily="2" charset="2"/>
              </a:rPr>
              <a:t>, </a:t>
            </a:r>
            <a:r>
              <a:rPr lang="en-CA" sz="1600" i="1" dirty="0">
                <a:solidFill>
                  <a:srgbClr val="FF0000"/>
                </a:solidFill>
                <a:sym typeface="Wingdings" panose="05000000000000000000" pitchFamily="2" charset="2"/>
              </a:rPr>
              <a:t>upbeat</a:t>
            </a:r>
            <a:r>
              <a:rPr lang="en-CA" sz="1600" i="1" dirty="0">
                <a:sym typeface="Wingdings" panose="05000000000000000000" pitchFamily="2" charset="2"/>
              </a:rPr>
              <a:t>, </a:t>
            </a:r>
            <a:r>
              <a:rPr lang="en-CA" sz="1600" i="1" dirty="0">
                <a:solidFill>
                  <a:srgbClr val="FF0000"/>
                </a:solidFill>
                <a:sym typeface="Wingdings" panose="05000000000000000000" pitchFamily="2" charset="2"/>
              </a:rPr>
              <a:t>acoustic</a:t>
            </a:r>
            <a:r>
              <a:rPr lang="en-CA" sz="1600" i="1" dirty="0">
                <a:sym typeface="Wingdings" panose="05000000000000000000" pitchFamily="2" charset="2"/>
              </a:rPr>
              <a:t> music</a:t>
            </a:r>
            <a:endParaRPr lang="en-CA" sz="1600" i="1" dirty="0"/>
          </a:p>
        </p:txBody>
      </p:sp>
      <p:sp>
        <p:nvSpPr>
          <p:cNvPr id="19" name="TextBox 18">
            <a:extLst>
              <a:ext uri="{FF2B5EF4-FFF2-40B4-BE49-F238E27FC236}">
                <a16:creationId xmlns:a16="http://schemas.microsoft.com/office/drawing/2014/main" id="{4BC759FA-E9BF-7F1F-110B-458F769021FF}"/>
              </a:ext>
            </a:extLst>
          </p:cNvPr>
          <p:cNvSpPr txBox="1"/>
          <p:nvPr/>
        </p:nvSpPr>
        <p:spPr>
          <a:xfrm>
            <a:off x="838200" y="1492934"/>
            <a:ext cx="4705414" cy="1323439"/>
          </a:xfrm>
          <a:prstGeom prst="rect">
            <a:avLst/>
          </a:prstGeom>
          <a:noFill/>
        </p:spPr>
        <p:txBody>
          <a:bodyPr wrap="square">
            <a:spAutoFit/>
          </a:bodyPr>
          <a:lstStyle/>
          <a:p>
            <a:r>
              <a:rPr lang="en-CA" sz="1600" dirty="0"/>
              <a:t>High RMSEs suggest that </a:t>
            </a:r>
            <a:r>
              <a:rPr lang="en-CA" sz="1600" b="1" dirty="0"/>
              <a:t>acoustic features alone cannot predict </a:t>
            </a:r>
            <a:r>
              <a:rPr lang="en-CA" sz="1600" dirty="0"/>
              <a:t>much variance in music preference, however, there was still a </a:t>
            </a:r>
            <a:r>
              <a:rPr lang="en-CA" sz="1600" b="1" dirty="0"/>
              <a:t>small significant association </a:t>
            </a:r>
            <a:r>
              <a:rPr lang="en-CA" sz="1600" dirty="0"/>
              <a:t>with the first 5 PCs on the number of listens the piece had in both models</a:t>
            </a:r>
          </a:p>
        </p:txBody>
      </p:sp>
      <p:grpSp>
        <p:nvGrpSpPr>
          <p:cNvPr id="3" name="Group 2">
            <a:extLst>
              <a:ext uri="{FF2B5EF4-FFF2-40B4-BE49-F238E27FC236}">
                <a16:creationId xmlns:a16="http://schemas.microsoft.com/office/drawing/2014/main" id="{A217BCA2-AD38-1663-FEB1-07D07028CEF8}"/>
              </a:ext>
            </a:extLst>
          </p:cNvPr>
          <p:cNvGrpSpPr/>
          <p:nvPr/>
        </p:nvGrpSpPr>
        <p:grpSpPr>
          <a:xfrm>
            <a:off x="5790485" y="1639888"/>
            <a:ext cx="6401515" cy="4675446"/>
            <a:chOff x="5851149" y="1924630"/>
            <a:chExt cx="6401515" cy="4675446"/>
          </a:xfrm>
        </p:grpSpPr>
        <p:sp>
          <p:nvSpPr>
            <p:cNvPr id="4" name="Content Placeholder 2">
              <a:extLst>
                <a:ext uri="{FF2B5EF4-FFF2-40B4-BE49-F238E27FC236}">
                  <a16:creationId xmlns:a16="http://schemas.microsoft.com/office/drawing/2014/main" id="{761DA47C-6002-9DCE-6F7A-8DFDD69EFA60}"/>
                </a:ext>
              </a:extLst>
            </p:cNvPr>
            <p:cNvSpPr txBox="1">
              <a:spLocks/>
            </p:cNvSpPr>
            <p:nvPr/>
          </p:nvSpPr>
          <p:spPr>
            <a:xfrm>
              <a:off x="5851149" y="1929128"/>
              <a:ext cx="4312159" cy="33693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200" b="1" dirty="0"/>
                <a:t>Random Forest Regression</a:t>
              </a:r>
            </a:p>
          </p:txBody>
        </p:sp>
        <p:pic>
          <p:nvPicPr>
            <p:cNvPr id="6" name="Picture 5">
              <a:extLst>
                <a:ext uri="{FF2B5EF4-FFF2-40B4-BE49-F238E27FC236}">
                  <a16:creationId xmlns:a16="http://schemas.microsoft.com/office/drawing/2014/main" id="{13042A1F-F14F-E9A9-6DDE-0B27E3C24F2C}"/>
                </a:ext>
              </a:extLst>
            </p:cNvPr>
            <p:cNvPicPr>
              <a:picLocks noChangeAspect="1"/>
            </p:cNvPicPr>
            <p:nvPr/>
          </p:nvPicPr>
          <p:blipFill>
            <a:blip r:embed="rId3"/>
            <a:srcRect l="2840" t="5324" r="53438" b="5682"/>
            <a:stretch/>
          </p:blipFill>
          <p:spPr>
            <a:xfrm>
              <a:off x="5852036" y="2210892"/>
              <a:ext cx="3127826" cy="4389184"/>
            </a:xfrm>
            <a:prstGeom prst="rect">
              <a:avLst/>
            </a:prstGeom>
          </p:spPr>
        </p:pic>
        <p:grpSp>
          <p:nvGrpSpPr>
            <p:cNvPr id="13" name="Group 12">
              <a:extLst>
                <a:ext uri="{FF2B5EF4-FFF2-40B4-BE49-F238E27FC236}">
                  <a16:creationId xmlns:a16="http://schemas.microsoft.com/office/drawing/2014/main" id="{2E86FAF3-298B-9073-E361-C62E3DBD38BA}"/>
                </a:ext>
              </a:extLst>
            </p:cNvPr>
            <p:cNvGrpSpPr/>
            <p:nvPr/>
          </p:nvGrpSpPr>
          <p:grpSpPr>
            <a:xfrm>
              <a:off x="8974446" y="2210524"/>
              <a:ext cx="3099518" cy="4389552"/>
              <a:chOff x="5864329" y="2387488"/>
              <a:chExt cx="3099518" cy="4389552"/>
            </a:xfrm>
          </p:grpSpPr>
          <p:pic>
            <p:nvPicPr>
              <p:cNvPr id="10" name="Picture 9">
                <a:extLst>
                  <a:ext uri="{FF2B5EF4-FFF2-40B4-BE49-F238E27FC236}">
                    <a16:creationId xmlns:a16="http://schemas.microsoft.com/office/drawing/2014/main" id="{79E99BAC-1B14-DA55-6A34-B785ECBA5A73}"/>
                  </a:ext>
                </a:extLst>
              </p:cNvPr>
              <p:cNvPicPr>
                <a:picLocks noChangeAspect="1"/>
              </p:cNvPicPr>
              <p:nvPr/>
            </p:nvPicPr>
            <p:blipFill>
              <a:blip r:embed="rId3"/>
              <a:srcRect l="2839" t="5324" r="64471" b="5682"/>
              <a:stretch/>
            </p:blipFill>
            <p:spPr>
              <a:xfrm>
                <a:off x="5864329" y="2387856"/>
                <a:ext cx="2338584" cy="4389184"/>
              </a:xfrm>
              <a:prstGeom prst="rect">
                <a:avLst/>
              </a:prstGeom>
            </p:spPr>
          </p:pic>
          <p:pic>
            <p:nvPicPr>
              <p:cNvPr id="11" name="Picture 10">
                <a:extLst>
                  <a:ext uri="{FF2B5EF4-FFF2-40B4-BE49-F238E27FC236}">
                    <a16:creationId xmlns:a16="http://schemas.microsoft.com/office/drawing/2014/main" id="{12EEF7A0-64FC-9D64-F839-DCCB35292CD3}"/>
                  </a:ext>
                </a:extLst>
              </p:cNvPr>
              <p:cNvPicPr>
                <a:picLocks noChangeAspect="1"/>
              </p:cNvPicPr>
              <p:nvPr/>
            </p:nvPicPr>
            <p:blipFill>
              <a:blip r:embed="rId3"/>
              <a:srcRect l="58890" t="5324" r="30260" b="5682"/>
              <a:stretch/>
            </p:blipFill>
            <p:spPr>
              <a:xfrm>
                <a:off x="8187672" y="2387488"/>
                <a:ext cx="776175" cy="4389184"/>
              </a:xfrm>
              <a:prstGeom prst="rect">
                <a:avLst/>
              </a:prstGeom>
            </p:spPr>
          </p:pic>
        </p:grpSp>
        <p:sp>
          <p:nvSpPr>
            <p:cNvPr id="12" name="Content Placeholder 2">
              <a:extLst>
                <a:ext uri="{FF2B5EF4-FFF2-40B4-BE49-F238E27FC236}">
                  <a16:creationId xmlns:a16="http://schemas.microsoft.com/office/drawing/2014/main" id="{9FCB9A91-03C7-F7D3-0E4A-164EDC60EE07}"/>
                </a:ext>
              </a:extLst>
            </p:cNvPr>
            <p:cNvSpPr txBox="1">
              <a:spLocks/>
            </p:cNvSpPr>
            <p:nvPr/>
          </p:nvSpPr>
          <p:spPr>
            <a:xfrm>
              <a:off x="9124838" y="1924630"/>
              <a:ext cx="3127826" cy="33693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2200" b="1" dirty="0"/>
                <a:t>Regression with Boosting</a:t>
              </a:r>
            </a:p>
          </p:txBody>
        </p:sp>
        <p:pic>
          <p:nvPicPr>
            <p:cNvPr id="31" name="Picture 30">
              <a:extLst>
                <a:ext uri="{FF2B5EF4-FFF2-40B4-BE49-F238E27FC236}">
                  <a16:creationId xmlns:a16="http://schemas.microsoft.com/office/drawing/2014/main" id="{FAE0290A-8B6A-5ECA-3277-5BE4D44D6641}"/>
                </a:ext>
              </a:extLst>
            </p:cNvPr>
            <p:cNvPicPr>
              <a:picLocks noChangeAspect="1"/>
            </p:cNvPicPr>
            <p:nvPr/>
          </p:nvPicPr>
          <p:blipFill>
            <a:blip r:embed="rId4"/>
            <a:stretch>
              <a:fillRect/>
            </a:stretch>
          </p:blipFill>
          <p:spPr>
            <a:xfrm>
              <a:off x="7344656" y="2757488"/>
              <a:ext cx="829998" cy="2686050"/>
            </a:xfrm>
            <a:prstGeom prst="rect">
              <a:avLst/>
            </a:prstGeom>
          </p:spPr>
        </p:pic>
        <p:pic>
          <p:nvPicPr>
            <p:cNvPr id="33" name="Picture 32">
              <a:extLst>
                <a:ext uri="{FF2B5EF4-FFF2-40B4-BE49-F238E27FC236}">
                  <a16:creationId xmlns:a16="http://schemas.microsoft.com/office/drawing/2014/main" id="{0EF792CF-4BF3-D2AD-AFF0-BC524B7D1FFC}"/>
                </a:ext>
              </a:extLst>
            </p:cNvPr>
            <p:cNvPicPr>
              <a:picLocks noChangeAspect="1"/>
            </p:cNvPicPr>
            <p:nvPr/>
          </p:nvPicPr>
          <p:blipFill>
            <a:blip r:embed="rId4"/>
            <a:stretch>
              <a:fillRect/>
            </a:stretch>
          </p:blipFill>
          <p:spPr>
            <a:xfrm>
              <a:off x="8173151" y="2302132"/>
              <a:ext cx="805114" cy="906809"/>
            </a:xfrm>
            <a:prstGeom prst="rect">
              <a:avLst/>
            </a:prstGeom>
          </p:spPr>
        </p:pic>
        <p:pic>
          <p:nvPicPr>
            <p:cNvPr id="35" name="Picture 34">
              <a:extLst>
                <a:ext uri="{FF2B5EF4-FFF2-40B4-BE49-F238E27FC236}">
                  <a16:creationId xmlns:a16="http://schemas.microsoft.com/office/drawing/2014/main" id="{F57CB052-A2CF-D187-8ED0-BD57FA2DC34C}"/>
                </a:ext>
              </a:extLst>
            </p:cNvPr>
            <p:cNvPicPr>
              <a:picLocks noChangeAspect="1"/>
            </p:cNvPicPr>
            <p:nvPr/>
          </p:nvPicPr>
          <p:blipFill>
            <a:blip r:embed="rId4"/>
            <a:stretch>
              <a:fillRect/>
            </a:stretch>
          </p:blipFill>
          <p:spPr>
            <a:xfrm>
              <a:off x="8173151" y="3649061"/>
              <a:ext cx="829998" cy="1341468"/>
            </a:xfrm>
            <a:prstGeom prst="rect">
              <a:avLst/>
            </a:prstGeom>
          </p:spPr>
        </p:pic>
        <p:pic>
          <p:nvPicPr>
            <p:cNvPr id="41" name="Picture 40">
              <a:extLst>
                <a:ext uri="{FF2B5EF4-FFF2-40B4-BE49-F238E27FC236}">
                  <a16:creationId xmlns:a16="http://schemas.microsoft.com/office/drawing/2014/main" id="{BE335BCF-B891-831F-63D2-30AD9429DBCA}"/>
                </a:ext>
              </a:extLst>
            </p:cNvPr>
            <p:cNvPicPr>
              <a:picLocks noChangeAspect="1"/>
            </p:cNvPicPr>
            <p:nvPr/>
          </p:nvPicPr>
          <p:blipFill>
            <a:blip r:embed="rId4"/>
            <a:stretch>
              <a:fillRect/>
            </a:stretch>
          </p:blipFill>
          <p:spPr>
            <a:xfrm>
              <a:off x="10467066" y="2757488"/>
              <a:ext cx="829998" cy="2686050"/>
            </a:xfrm>
            <a:prstGeom prst="rect">
              <a:avLst/>
            </a:prstGeom>
          </p:spPr>
        </p:pic>
        <p:pic>
          <p:nvPicPr>
            <p:cNvPr id="43" name="Picture 42">
              <a:extLst>
                <a:ext uri="{FF2B5EF4-FFF2-40B4-BE49-F238E27FC236}">
                  <a16:creationId xmlns:a16="http://schemas.microsoft.com/office/drawing/2014/main" id="{580E180A-B36A-09D8-F2AB-5201122DB7D0}"/>
                </a:ext>
              </a:extLst>
            </p:cNvPr>
            <p:cNvPicPr>
              <a:picLocks noChangeAspect="1"/>
            </p:cNvPicPr>
            <p:nvPr/>
          </p:nvPicPr>
          <p:blipFill>
            <a:blip r:embed="rId4"/>
            <a:stretch>
              <a:fillRect/>
            </a:stretch>
          </p:blipFill>
          <p:spPr>
            <a:xfrm>
              <a:off x="11298219" y="2302132"/>
              <a:ext cx="794376" cy="906809"/>
            </a:xfrm>
            <a:prstGeom prst="rect">
              <a:avLst/>
            </a:prstGeom>
          </p:spPr>
        </p:pic>
        <p:pic>
          <p:nvPicPr>
            <p:cNvPr id="46" name="Picture 45">
              <a:extLst>
                <a:ext uri="{FF2B5EF4-FFF2-40B4-BE49-F238E27FC236}">
                  <a16:creationId xmlns:a16="http://schemas.microsoft.com/office/drawing/2014/main" id="{F2C2CC6D-8757-ABD1-52A7-091767DA516E}"/>
                </a:ext>
              </a:extLst>
            </p:cNvPr>
            <p:cNvPicPr>
              <a:picLocks noChangeAspect="1"/>
            </p:cNvPicPr>
            <p:nvPr/>
          </p:nvPicPr>
          <p:blipFill>
            <a:blip r:embed="rId4"/>
            <a:stretch>
              <a:fillRect/>
            </a:stretch>
          </p:blipFill>
          <p:spPr>
            <a:xfrm>
              <a:off x="11284279" y="3649061"/>
              <a:ext cx="794376" cy="1794478"/>
            </a:xfrm>
            <a:prstGeom prst="rect">
              <a:avLst/>
            </a:prstGeom>
          </p:spPr>
        </p:pic>
      </p:grpSp>
    </p:spTree>
    <p:extLst>
      <p:ext uri="{BB962C8B-B14F-4D97-AF65-F5344CB8AC3E}">
        <p14:creationId xmlns:p14="http://schemas.microsoft.com/office/powerpoint/2010/main" val="2807022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16177-7915-CA05-EB81-A94CE095B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6B0B6-FE96-997F-7DE9-1CFD99E30EDD}"/>
              </a:ext>
            </a:extLst>
          </p:cNvPr>
          <p:cNvSpPr>
            <a:spLocks noGrp="1"/>
          </p:cNvSpPr>
          <p:nvPr>
            <p:ph type="title"/>
          </p:nvPr>
        </p:nvSpPr>
        <p:spPr>
          <a:xfrm>
            <a:off x="838200" y="314325"/>
            <a:ext cx="10515600" cy="1325563"/>
          </a:xfrm>
        </p:spPr>
        <p:txBody>
          <a:bodyPr/>
          <a:lstStyle/>
          <a:p>
            <a:r>
              <a:rPr lang="en-CA" dirty="0"/>
              <a:t>Discussion: PC and Feature Loadings</a:t>
            </a:r>
          </a:p>
        </p:txBody>
      </p:sp>
      <p:sp>
        <p:nvSpPr>
          <p:cNvPr id="15" name="Content Placeholder 2">
            <a:extLst>
              <a:ext uri="{FF2B5EF4-FFF2-40B4-BE49-F238E27FC236}">
                <a16:creationId xmlns:a16="http://schemas.microsoft.com/office/drawing/2014/main" id="{4EA4CD78-B2F4-41F5-EEC5-03DDC0F64BA9}"/>
              </a:ext>
            </a:extLst>
          </p:cNvPr>
          <p:cNvSpPr txBox="1">
            <a:spLocks/>
          </p:cNvSpPr>
          <p:nvPr/>
        </p:nvSpPr>
        <p:spPr>
          <a:xfrm>
            <a:off x="838200" y="1413245"/>
            <a:ext cx="6273800" cy="9336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CA" sz="1800" b="1" dirty="0"/>
              <a:t>Random Forest Regression</a:t>
            </a:r>
          </a:p>
          <a:p>
            <a:pPr>
              <a:lnSpc>
                <a:spcPct val="100000"/>
              </a:lnSpc>
            </a:pPr>
            <a:r>
              <a:rPr lang="en-CA" sz="1800" dirty="0"/>
              <a:t>Valence, Energy, Danceability, </a:t>
            </a:r>
            <a:r>
              <a:rPr lang="en-CA" sz="1800" dirty="0" err="1"/>
              <a:t>Acousticness</a:t>
            </a:r>
            <a:endParaRPr lang="en-CA" sz="1800" dirty="0"/>
          </a:p>
        </p:txBody>
      </p:sp>
      <p:sp>
        <p:nvSpPr>
          <p:cNvPr id="19" name="TextBox 18">
            <a:extLst>
              <a:ext uri="{FF2B5EF4-FFF2-40B4-BE49-F238E27FC236}">
                <a16:creationId xmlns:a16="http://schemas.microsoft.com/office/drawing/2014/main" id="{4CBAC3F4-C616-6B5B-3B6B-394882025701}"/>
              </a:ext>
            </a:extLst>
          </p:cNvPr>
          <p:cNvSpPr txBox="1"/>
          <p:nvPr/>
        </p:nvSpPr>
        <p:spPr>
          <a:xfrm>
            <a:off x="739140" y="5831582"/>
            <a:ext cx="4991100" cy="830997"/>
          </a:xfrm>
          <a:prstGeom prst="rect">
            <a:avLst/>
          </a:prstGeom>
          <a:noFill/>
        </p:spPr>
        <p:txBody>
          <a:bodyPr wrap="square">
            <a:spAutoFit/>
          </a:bodyPr>
          <a:lstStyle/>
          <a:p>
            <a:r>
              <a:rPr lang="en-CA" sz="1600" dirty="0"/>
              <a:t>According to the RF regression model, listeners prefer music with less acoustics, more danceable, moderate to low energy, and slightly more positive valence. </a:t>
            </a:r>
          </a:p>
        </p:txBody>
      </p:sp>
      <p:pic>
        <p:nvPicPr>
          <p:cNvPr id="3" name="Picture 2">
            <a:extLst>
              <a:ext uri="{FF2B5EF4-FFF2-40B4-BE49-F238E27FC236}">
                <a16:creationId xmlns:a16="http://schemas.microsoft.com/office/drawing/2014/main" id="{CB583036-9A5E-3741-CB10-4886CACFA1FF}"/>
              </a:ext>
            </a:extLst>
          </p:cNvPr>
          <p:cNvPicPr>
            <a:picLocks noChangeAspect="1"/>
          </p:cNvPicPr>
          <p:nvPr/>
        </p:nvPicPr>
        <p:blipFill>
          <a:blip r:embed="rId3"/>
          <a:srcRect r="50300" b="18034"/>
          <a:stretch/>
        </p:blipFill>
        <p:spPr>
          <a:xfrm>
            <a:off x="1068072" y="2276116"/>
            <a:ext cx="3782060" cy="3430588"/>
          </a:xfrm>
          <a:prstGeom prst="rect">
            <a:avLst/>
          </a:prstGeom>
        </p:spPr>
      </p:pic>
      <p:pic>
        <p:nvPicPr>
          <p:cNvPr id="5" name="Picture 4">
            <a:extLst>
              <a:ext uri="{FF2B5EF4-FFF2-40B4-BE49-F238E27FC236}">
                <a16:creationId xmlns:a16="http://schemas.microsoft.com/office/drawing/2014/main" id="{1C33E0CF-879A-CC47-D02C-8F016381DBAE}"/>
              </a:ext>
            </a:extLst>
          </p:cNvPr>
          <p:cNvPicPr>
            <a:picLocks noChangeAspect="1"/>
          </p:cNvPicPr>
          <p:nvPr/>
        </p:nvPicPr>
        <p:blipFill>
          <a:blip r:embed="rId3"/>
          <a:srcRect l="50300" b="18034"/>
          <a:stretch/>
        </p:blipFill>
        <p:spPr>
          <a:xfrm>
            <a:off x="7117082" y="2276116"/>
            <a:ext cx="3782060" cy="3430588"/>
          </a:xfrm>
          <a:prstGeom prst="rect">
            <a:avLst/>
          </a:prstGeom>
        </p:spPr>
      </p:pic>
      <p:sp>
        <p:nvSpPr>
          <p:cNvPr id="9" name="Content Placeholder 2">
            <a:extLst>
              <a:ext uri="{FF2B5EF4-FFF2-40B4-BE49-F238E27FC236}">
                <a16:creationId xmlns:a16="http://schemas.microsoft.com/office/drawing/2014/main" id="{5CDED289-3EB9-FB32-D763-CDD3B68722AD}"/>
              </a:ext>
            </a:extLst>
          </p:cNvPr>
          <p:cNvSpPr txBox="1">
            <a:spLocks/>
          </p:cNvSpPr>
          <p:nvPr/>
        </p:nvSpPr>
        <p:spPr>
          <a:xfrm>
            <a:off x="6892292" y="1413244"/>
            <a:ext cx="6273800" cy="9336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CA" sz="1800" b="1" dirty="0"/>
              <a:t>Regression with Boosting</a:t>
            </a:r>
          </a:p>
          <a:p>
            <a:pPr>
              <a:lnSpc>
                <a:spcPct val="100000"/>
              </a:lnSpc>
            </a:pPr>
            <a:r>
              <a:rPr lang="en-CA" sz="1800" dirty="0"/>
              <a:t>Valence, Tempo, Danceability, </a:t>
            </a:r>
            <a:r>
              <a:rPr lang="en-CA" sz="1800" dirty="0" err="1"/>
              <a:t>Acousticness</a:t>
            </a:r>
            <a:endParaRPr lang="en-CA" sz="1800" dirty="0"/>
          </a:p>
        </p:txBody>
      </p:sp>
      <p:sp>
        <p:nvSpPr>
          <p:cNvPr id="14" name="TextBox 13">
            <a:extLst>
              <a:ext uri="{FF2B5EF4-FFF2-40B4-BE49-F238E27FC236}">
                <a16:creationId xmlns:a16="http://schemas.microsoft.com/office/drawing/2014/main" id="{5E4B5901-11D7-2323-C725-70C1B3AFD57F}"/>
              </a:ext>
            </a:extLst>
          </p:cNvPr>
          <p:cNvSpPr txBox="1"/>
          <p:nvPr/>
        </p:nvSpPr>
        <p:spPr>
          <a:xfrm>
            <a:off x="6631940" y="5831582"/>
            <a:ext cx="4991100" cy="830997"/>
          </a:xfrm>
          <a:prstGeom prst="rect">
            <a:avLst/>
          </a:prstGeom>
          <a:noFill/>
        </p:spPr>
        <p:txBody>
          <a:bodyPr wrap="square">
            <a:spAutoFit/>
          </a:bodyPr>
          <a:lstStyle/>
          <a:p>
            <a:r>
              <a:rPr lang="en-CA" sz="1600" dirty="0"/>
              <a:t>According to the boosting regression model, listeners prefer music with less acoustics, more danceable, moderate to slower tempo, and positive valence. </a:t>
            </a:r>
          </a:p>
        </p:txBody>
      </p:sp>
      <p:grpSp>
        <p:nvGrpSpPr>
          <p:cNvPr id="8" name="Group 7">
            <a:extLst>
              <a:ext uri="{FF2B5EF4-FFF2-40B4-BE49-F238E27FC236}">
                <a16:creationId xmlns:a16="http://schemas.microsoft.com/office/drawing/2014/main" id="{386D33FB-E037-03D3-EB2A-19FDC54780F7}"/>
              </a:ext>
            </a:extLst>
          </p:cNvPr>
          <p:cNvGrpSpPr/>
          <p:nvPr/>
        </p:nvGrpSpPr>
        <p:grpSpPr>
          <a:xfrm>
            <a:off x="5469256" y="3796540"/>
            <a:ext cx="850899" cy="585424"/>
            <a:chOff x="5358767" y="3445842"/>
            <a:chExt cx="850899" cy="585424"/>
          </a:xfrm>
        </p:grpSpPr>
        <p:pic>
          <p:nvPicPr>
            <p:cNvPr id="6" name="Picture 5">
              <a:extLst>
                <a:ext uri="{FF2B5EF4-FFF2-40B4-BE49-F238E27FC236}">
                  <a16:creationId xmlns:a16="http://schemas.microsoft.com/office/drawing/2014/main" id="{9A07FE8B-7BE8-2F49-7B2F-A19FDF6EC03A}"/>
                </a:ext>
              </a:extLst>
            </p:cNvPr>
            <p:cNvPicPr>
              <a:picLocks noChangeAspect="1"/>
            </p:cNvPicPr>
            <p:nvPr/>
          </p:nvPicPr>
          <p:blipFill>
            <a:blip r:embed="rId4"/>
            <a:srcRect l="80125" t="41053" r="13654" b="46945"/>
            <a:stretch/>
          </p:blipFill>
          <p:spPr>
            <a:xfrm>
              <a:off x="5358767" y="3445842"/>
              <a:ext cx="371473" cy="585424"/>
            </a:xfrm>
            <a:prstGeom prst="rect">
              <a:avLst/>
            </a:prstGeom>
          </p:spPr>
        </p:pic>
        <p:pic>
          <p:nvPicPr>
            <p:cNvPr id="7" name="Picture 6">
              <a:extLst>
                <a:ext uri="{FF2B5EF4-FFF2-40B4-BE49-F238E27FC236}">
                  <a16:creationId xmlns:a16="http://schemas.microsoft.com/office/drawing/2014/main" id="{4C921895-0F7F-2976-970A-00E1C045AF94}"/>
                </a:ext>
              </a:extLst>
            </p:cNvPr>
            <p:cNvPicPr>
              <a:picLocks noChangeAspect="1"/>
            </p:cNvPicPr>
            <p:nvPr/>
          </p:nvPicPr>
          <p:blipFill>
            <a:blip r:embed="rId4"/>
            <a:srcRect l="92343" t="41053" b="46945"/>
            <a:stretch/>
          </p:blipFill>
          <p:spPr>
            <a:xfrm>
              <a:off x="5752466" y="3445842"/>
              <a:ext cx="457200" cy="585424"/>
            </a:xfrm>
            <a:prstGeom prst="rect">
              <a:avLst/>
            </a:prstGeom>
          </p:spPr>
        </p:pic>
      </p:grpSp>
    </p:spTree>
    <p:extLst>
      <p:ext uri="{BB962C8B-B14F-4D97-AF65-F5344CB8AC3E}">
        <p14:creationId xmlns:p14="http://schemas.microsoft.com/office/powerpoint/2010/main" val="370456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8EA314-A8DB-CDA9-3AEF-D52F3BCC9921}"/>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Music – DAV College, Jalandhar">
            <a:extLst>
              <a:ext uri="{FF2B5EF4-FFF2-40B4-BE49-F238E27FC236}">
                <a16:creationId xmlns:a16="http://schemas.microsoft.com/office/drawing/2014/main" id="{E3CB7C45-2BCB-AE0D-64F0-51E6C4E920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414" t="8199" r="30445" b="-1"/>
          <a:stretch/>
        </p:blipFill>
        <p:spPr bwMode="auto">
          <a:xfrm>
            <a:off x="20" y="10"/>
            <a:ext cx="8668492" cy="6857990"/>
          </a:xfrm>
          <a:prstGeom prst="rect">
            <a:avLst/>
          </a:prstGeom>
          <a:noFill/>
          <a:extLst>
            <a:ext uri="{909E8E84-426E-40DD-AFC4-6F175D3DCCD1}">
              <a14:hiddenFill xmlns:a14="http://schemas.microsoft.com/office/drawing/2010/main">
                <a:solidFill>
                  <a:srgbClr val="FFFFFF"/>
                </a:solidFill>
              </a14:hiddenFill>
            </a:ext>
          </a:extLst>
        </p:spPr>
      </p:pic>
      <p:sp>
        <p:nvSpPr>
          <p:cNvPr id="2057" name="Rectangle 2056">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8FEAC6-E2F9-A398-A7C5-C2C840736E97}"/>
              </a:ext>
            </a:extLst>
          </p:cNvPr>
          <p:cNvSpPr>
            <a:spLocks noGrp="1"/>
          </p:cNvSpPr>
          <p:nvPr>
            <p:ph type="ctrTitle"/>
          </p:nvPr>
        </p:nvSpPr>
        <p:spPr>
          <a:xfrm>
            <a:off x="7848600" y="1122363"/>
            <a:ext cx="4023360" cy="3204134"/>
          </a:xfrm>
        </p:spPr>
        <p:txBody>
          <a:bodyPr vert="horz" lIns="91440" tIns="45720" rIns="91440" bIns="45720" rtlCol="0" anchor="b">
            <a:normAutofit/>
          </a:bodyPr>
          <a:lstStyle/>
          <a:p>
            <a:pPr algn="l"/>
            <a:r>
              <a:rPr lang="en-US" sz="4800"/>
              <a:t>Thank you! </a:t>
            </a:r>
            <a:br>
              <a:rPr lang="en-US" sz="4800"/>
            </a:br>
            <a:br>
              <a:rPr lang="en-US" sz="4800"/>
            </a:br>
            <a:r>
              <a:rPr lang="en-US" sz="4800"/>
              <a:t>Questions? </a:t>
            </a:r>
          </a:p>
        </p:txBody>
      </p:sp>
      <p:sp>
        <p:nvSpPr>
          <p:cNvPr id="2059" name="Rectangle 205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61" name="Rectangle 206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793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F84FB-DDCA-B05B-2064-4D68F2E33F69}"/>
              </a:ext>
            </a:extLst>
          </p:cNvPr>
          <p:cNvSpPr>
            <a:spLocks noGrp="1"/>
          </p:cNvSpPr>
          <p:nvPr>
            <p:ph type="title"/>
          </p:nvPr>
        </p:nvSpPr>
        <p:spPr>
          <a:xfrm>
            <a:off x="838200" y="314325"/>
            <a:ext cx="10515600" cy="1325563"/>
          </a:xfrm>
        </p:spPr>
        <p:txBody>
          <a:bodyPr/>
          <a:lstStyle/>
          <a:p>
            <a:r>
              <a:rPr lang="en-CA" dirty="0"/>
              <a:t>References</a:t>
            </a:r>
          </a:p>
        </p:txBody>
      </p:sp>
      <p:sp>
        <p:nvSpPr>
          <p:cNvPr id="3" name="Content Placeholder 2">
            <a:extLst>
              <a:ext uri="{FF2B5EF4-FFF2-40B4-BE49-F238E27FC236}">
                <a16:creationId xmlns:a16="http://schemas.microsoft.com/office/drawing/2014/main" id="{40957212-908A-63DE-51DC-E38797408EE1}"/>
              </a:ext>
            </a:extLst>
          </p:cNvPr>
          <p:cNvSpPr>
            <a:spLocks noGrp="1"/>
          </p:cNvSpPr>
          <p:nvPr>
            <p:ph idx="1"/>
          </p:nvPr>
        </p:nvSpPr>
        <p:spPr>
          <a:xfrm>
            <a:off x="838200" y="1569396"/>
            <a:ext cx="10515600" cy="4607567"/>
          </a:xfrm>
        </p:spPr>
        <p:txBody>
          <a:bodyPr>
            <a:noAutofit/>
          </a:bodyPr>
          <a:lstStyle/>
          <a:p>
            <a:pPr marL="457200" indent="-457200">
              <a:lnSpc>
                <a:spcPct val="100000"/>
              </a:lnSpc>
              <a:buNone/>
            </a:pPr>
            <a:r>
              <a:rPr lang="en-US" sz="1400" dirty="0"/>
              <a:t>Chen, T., &amp; </a:t>
            </a:r>
            <a:r>
              <a:rPr lang="en-US" sz="1400" dirty="0" err="1"/>
              <a:t>Guestrin</a:t>
            </a:r>
            <a:r>
              <a:rPr lang="en-US" sz="1400" dirty="0"/>
              <a:t>, C. (2016). </a:t>
            </a:r>
            <a:r>
              <a:rPr lang="en-US" sz="1400" dirty="0" err="1"/>
              <a:t>XGBoost</a:t>
            </a:r>
            <a:r>
              <a:rPr lang="en-US" sz="1400" dirty="0"/>
              <a:t>: A Scalable Tree Boosting System. In Proceedings of the 22nd ACM SIGKDD International Conference on Knowledge Discovery and Data Mining (pp. 785–794). New York, NY, USA: ACM. https://doi.org/10.1145/2939672.2939785</a:t>
            </a:r>
            <a:endParaRPr lang="en-CA" sz="1400" dirty="0"/>
          </a:p>
          <a:p>
            <a:pPr marL="457200" indent="-457200">
              <a:lnSpc>
                <a:spcPct val="100000"/>
              </a:lnSpc>
              <a:buNone/>
            </a:pPr>
            <a:r>
              <a:rPr lang="en-CA" sz="1400" dirty="0"/>
              <a:t>Defferrard, Michaël, Kirell Benzi, Pierre Vandergheynst, and Xavier Bresson. 2016. “FMA: A Dataset for Music Analysis.” arXiv Preprint arXiv:1612.01840.</a:t>
            </a:r>
          </a:p>
          <a:p>
            <a:pPr marL="457200" indent="-457200">
              <a:lnSpc>
                <a:spcPct val="100000"/>
              </a:lnSpc>
              <a:buNone/>
            </a:pPr>
            <a:r>
              <a:rPr lang="en-CA" sz="1400" dirty="0"/>
              <a:t>Ellis, Daniel PW, Brian Whitman, Tristan Jehan, and Paul Lamere. 2010. “The Echo Nest Musical fingerprint.”</a:t>
            </a:r>
          </a:p>
          <a:p>
            <a:pPr marL="457200" indent="-457200">
              <a:lnSpc>
                <a:spcPct val="100000"/>
              </a:lnSpc>
              <a:buNone/>
            </a:pPr>
            <a:r>
              <a:rPr lang="en-US" sz="1400" dirty="0" err="1"/>
              <a:t>Liaw</a:t>
            </a:r>
            <a:r>
              <a:rPr lang="en-US" sz="1400" dirty="0"/>
              <a:t> A, Wiener M (2002). “Classification and Regression by </a:t>
            </a:r>
            <a:r>
              <a:rPr lang="en-US" sz="1400" dirty="0" err="1"/>
              <a:t>randomForest</a:t>
            </a:r>
            <a:r>
              <a:rPr lang="en-US" sz="1400" dirty="0"/>
              <a:t>.” R News, 2(3), 18-22. https://CRAN.R-project.org/doc/Rnews/.</a:t>
            </a:r>
            <a:endParaRPr lang="en-CA" sz="1400" dirty="0"/>
          </a:p>
          <a:p>
            <a:pPr marL="457200" indent="-457200">
              <a:lnSpc>
                <a:spcPct val="100000"/>
              </a:lnSpc>
              <a:buNone/>
            </a:pPr>
            <a:r>
              <a:rPr lang="en-CA" sz="1400" dirty="0"/>
              <a:t>Lin, Ning, Ping-Chia Tsai, Yu-An Chen, and Homer H Chen. 2014. “Music Recommendation Based on Artist Novelty and Similarity.” In 2014 IEEE 16th International Workshop on Multimedia Signal Processing (MMSP), 1–6. IEEE. </a:t>
            </a:r>
          </a:p>
          <a:p>
            <a:pPr marL="457200" indent="-457200">
              <a:lnSpc>
                <a:spcPct val="100000"/>
              </a:lnSpc>
              <a:buNone/>
            </a:pPr>
            <a:r>
              <a:rPr lang="en-CA" sz="1400" dirty="0"/>
              <a:t>R Core Team. 2020. R: A Language and Environment for Statistical Computing. Vienna, Austria: R Foundation for Statistical Computing. </a:t>
            </a:r>
            <a:r>
              <a:rPr lang="en-CA" sz="1400" dirty="0">
                <a:hlinkClick r:id="rId2"/>
              </a:rPr>
              <a:t>https://www.R-project.org/</a:t>
            </a:r>
            <a:r>
              <a:rPr lang="en-CA" sz="1400" dirty="0"/>
              <a:t>.</a:t>
            </a:r>
          </a:p>
          <a:p>
            <a:pPr marL="457200" indent="-457200">
              <a:lnSpc>
                <a:spcPct val="100000"/>
              </a:lnSpc>
              <a:buNone/>
            </a:pPr>
            <a:r>
              <a:rPr lang="en-CA" sz="1400" dirty="0"/>
              <a:t>Wickham H, </a:t>
            </a:r>
            <a:r>
              <a:rPr lang="en-CA" sz="1400" dirty="0" err="1"/>
              <a:t>Averick</a:t>
            </a:r>
            <a:r>
              <a:rPr lang="en-CA" sz="1400" dirty="0"/>
              <a:t> M, Bryan J, Chang W, McGowan LD, François R, </a:t>
            </a:r>
            <a:r>
              <a:rPr lang="en-CA" sz="1400" dirty="0" err="1"/>
              <a:t>Grolemund</a:t>
            </a:r>
            <a:r>
              <a:rPr lang="en-CA" sz="1400" dirty="0"/>
              <a:t> G, Hayes A, Henry L, Hester J, Kuhn M, Pedersen TL, Miller E, Bache SM, Müller K, </a:t>
            </a:r>
            <a:r>
              <a:rPr lang="en-CA" sz="1400" dirty="0" err="1"/>
              <a:t>Ooms</a:t>
            </a:r>
            <a:r>
              <a:rPr lang="en-CA" sz="1400" dirty="0"/>
              <a:t> J, Robinson D, Seidel DP, </a:t>
            </a:r>
            <a:r>
              <a:rPr lang="en-CA" sz="1400" dirty="0" err="1"/>
              <a:t>Spinu</a:t>
            </a:r>
            <a:r>
              <a:rPr lang="en-CA" sz="1400" dirty="0"/>
              <a:t> V, Takahashi K, Vaughan D, Wilke C, Woo K, </a:t>
            </a:r>
            <a:r>
              <a:rPr lang="en-CA" sz="1400" dirty="0" err="1"/>
              <a:t>Yutani</a:t>
            </a:r>
            <a:r>
              <a:rPr lang="en-CA" sz="1400" dirty="0"/>
              <a:t> H (2019). “Welcome to the </a:t>
            </a:r>
            <a:r>
              <a:rPr lang="en-CA" sz="1400" dirty="0" err="1"/>
              <a:t>tidyverse</a:t>
            </a:r>
            <a:r>
              <a:rPr lang="en-CA" sz="1400" dirty="0"/>
              <a:t>.” Journal of Open Source Software, 4(43), 1686. doi:10.21105/joss.01686.</a:t>
            </a:r>
          </a:p>
          <a:p>
            <a:pPr marL="457200" indent="-457200">
              <a:lnSpc>
                <a:spcPct val="100000"/>
              </a:lnSpc>
              <a:buNone/>
            </a:pPr>
            <a:r>
              <a:rPr lang="en-CA" sz="1400" dirty="0"/>
              <a:t>Zhang, </a:t>
            </a:r>
            <a:r>
              <a:rPr lang="en-CA" sz="1400" dirty="0" err="1"/>
              <a:t>Jurui</a:t>
            </a:r>
            <a:r>
              <a:rPr lang="en-CA" sz="1400" dirty="0"/>
              <a:t>, Shan Yu, Raymond Liu, Guang-Xin Xie, and Leon </a:t>
            </a:r>
            <a:r>
              <a:rPr lang="en-CA" sz="1400" dirty="0" err="1"/>
              <a:t>Zurawicki</a:t>
            </a:r>
            <a:r>
              <a:rPr lang="en-CA" sz="1400" dirty="0"/>
              <a:t>. 2024. “Unveiling the Melodic Matrix: Exploring Genre-and-Audio Dynamics in the Digital Music Popularity Using Machine Learning Techniques.” Marketing Intelligence &amp; Planning</a:t>
            </a:r>
          </a:p>
        </p:txBody>
      </p:sp>
    </p:spTree>
    <p:extLst>
      <p:ext uri="{BB962C8B-B14F-4D97-AF65-F5344CB8AC3E}">
        <p14:creationId xmlns:p14="http://schemas.microsoft.com/office/powerpoint/2010/main" val="3601003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1958</TotalTime>
  <Words>1565</Words>
  <Application>Microsoft Office PowerPoint</Application>
  <PresentationFormat>Widescreen</PresentationFormat>
  <Paragraphs>120</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Wingdings</vt:lpstr>
      <vt:lpstr>Office Theme</vt:lpstr>
      <vt:lpstr>Exploring Feature Importance in Predicting Music Preference</vt:lpstr>
      <vt:lpstr>Outline</vt:lpstr>
      <vt:lpstr>Introduction + Motivation</vt:lpstr>
      <vt:lpstr>Data: Free Music Archive</vt:lpstr>
      <vt:lpstr>Methods: PCA</vt:lpstr>
      <vt:lpstr>Methods: Models</vt:lpstr>
      <vt:lpstr>Results: Model Comparison &amp; PCA Loadings</vt:lpstr>
      <vt:lpstr>Discussion: PC and Feature Loadings</vt:lpstr>
      <vt:lpstr>Discussion: PC and Feature Loadings</vt:lpstr>
      <vt:lpstr>Thank you!   Questions?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Jackie Zhou</dc:creator>
  <cp:lastModifiedBy>Jackie Zhou</cp:lastModifiedBy>
  <cp:revision>2</cp:revision>
  <dcterms:created xsi:type="dcterms:W3CDTF">2024-11-28T02:37:41Z</dcterms:created>
  <dcterms:modified xsi:type="dcterms:W3CDTF">2024-12-05T19:32:44Z</dcterms:modified>
</cp:coreProperties>
</file>